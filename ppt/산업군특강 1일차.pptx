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34" r:id="rId2"/>
    <p:sldId id="349" r:id="rId3"/>
    <p:sldId id="322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4" r:id="rId12"/>
    <p:sldId id="342" r:id="rId13"/>
    <p:sldId id="345" r:id="rId14"/>
    <p:sldId id="346" r:id="rId15"/>
    <p:sldId id="347" r:id="rId16"/>
    <p:sldId id="348" r:id="rId17"/>
    <p:sldId id="321" r:id="rId1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88" autoAdjust="0"/>
    <p:restoredTop sz="93810" autoAdjust="0"/>
  </p:normalViewPr>
  <p:slideViewPr>
    <p:cSldViewPr>
      <p:cViewPr varScale="1">
        <p:scale>
          <a:sx n="106" d="100"/>
          <a:sy n="106" d="100"/>
        </p:scale>
        <p:origin x="172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71C21-3757-4199-83DE-22960358A2A5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4E647-5A0F-41E6-A0EF-B58D8C1C6C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03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714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476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704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396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179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504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08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699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868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577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982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1111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79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954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4448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39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/>
          <p:cNvSpPr/>
          <p:nvPr userDrawn="1"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FE722-38C7-4231-8BB5-7A27D4E5977D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ekflafg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35696" y="2708920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44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3768" y="2276872"/>
            <a:ext cx="425647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데이터 분석가 부트캠프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(AI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활용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)</a:t>
            </a:r>
            <a:endParaRPr lang="ko-KR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87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00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이름  </a:t>
            </a:r>
            <a:r>
              <a:rPr lang="en-US" altLang="ko-KR" dirty="0"/>
              <a:t>: </a:t>
            </a:r>
            <a:r>
              <a:rPr lang="ko-KR" altLang="en-US" dirty="0"/>
              <a:t>문병선 강사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연락처 </a:t>
            </a:r>
            <a:r>
              <a:rPr lang="en-US" altLang="ko-KR" dirty="0"/>
              <a:t>: 010-5386-9303</a:t>
            </a:r>
          </a:p>
          <a:p>
            <a:endParaRPr lang="en-US" altLang="ko-KR" dirty="0"/>
          </a:p>
          <a:p>
            <a:r>
              <a:rPr lang="en-US" altLang="ko-KR" dirty="0"/>
              <a:t>Email : </a:t>
            </a:r>
            <a:r>
              <a:rPr lang="en-US" altLang="ko-KR" dirty="0">
                <a:hlinkClick r:id="rId3"/>
              </a:rPr>
              <a:t>ekflafg@gmail.com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강의 이력 </a:t>
            </a:r>
            <a:r>
              <a:rPr lang="en-US" altLang="ko-KR" dirty="0"/>
              <a:t>: 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한국표준협회</a:t>
            </a:r>
            <a:r>
              <a:rPr lang="en-US" altLang="ko-KR" dirty="0"/>
              <a:t>(</a:t>
            </a:r>
            <a:r>
              <a:rPr lang="ko-KR" altLang="en-US" dirty="0"/>
              <a:t>스마트 공장 </a:t>
            </a:r>
            <a:r>
              <a:rPr lang="en-US" altLang="ko-KR" dirty="0"/>
              <a:t>IT</a:t>
            </a:r>
            <a:r>
              <a:rPr lang="ko-KR" altLang="en-US" dirty="0"/>
              <a:t>융합 과정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 err="1"/>
              <a:t>한국에이아이블록체인융합원</a:t>
            </a:r>
            <a:r>
              <a:rPr lang="en-US" altLang="ko-KR" dirty="0"/>
              <a:t>(</a:t>
            </a:r>
            <a:r>
              <a:rPr lang="ko-KR" altLang="en-US" dirty="0"/>
              <a:t>블록체인 및 </a:t>
            </a:r>
            <a:r>
              <a:rPr lang="en-US" altLang="ko-KR" dirty="0"/>
              <a:t>DB</a:t>
            </a:r>
            <a:r>
              <a:rPr lang="ko-KR" altLang="en-US" dirty="0"/>
              <a:t>를 이용한 </a:t>
            </a:r>
            <a:r>
              <a:rPr lang="en-US" altLang="ko-KR" dirty="0" err="1"/>
              <a:t>Dapp</a:t>
            </a:r>
            <a:r>
              <a:rPr lang="en-US" altLang="ko-KR" dirty="0"/>
              <a:t> </a:t>
            </a:r>
            <a:r>
              <a:rPr lang="ko-KR" altLang="en-US" dirty="0"/>
              <a:t>강의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 err="1"/>
              <a:t>이젠컴퓨터학원</a:t>
            </a:r>
            <a:r>
              <a:rPr lang="en-US" altLang="ko-KR" dirty="0"/>
              <a:t>(R, Python</a:t>
            </a:r>
            <a:r>
              <a:rPr lang="ko-KR" altLang="en-US" dirty="0"/>
              <a:t>를 이용한 데이터 분석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 err="1"/>
              <a:t>유비온</a:t>
            </a:r>
            <a:r>
              <a:rPr lang="en-US" altLang="ko-KR" dirty="0"/>
              <a:t>(</a:t>
            </a:r>
            <a:r>
              <a:rPr lang="ko-KR" altLang="en-US" dirty="0"/>
              <a:t>금융데이터 분석을 위한 </a:t>
            </a:r>
            <a:r>
              <a:rPr lang="en-US" altLang="ko-KR" dirty="0"/>
              <a:t>Python </a:t>
            </a:r>
            <a:r>
              <a:rPr lang="ko-KR" altLang="en-US" dirty="0"/>
              <a:t>및 </a:t>
            </a:r>
            <a:r>
              <a:rPr lang="en-US" altLang="ko-KR" dirty="0"/>
              <a:t>SQL, </a:t>
            </a:r>
            <a:r>
              <a:rPr lang="ko-KR" altLang="en-US" dirty="0"/>
              <a:t>빅데이터 분석을 활용한 디지털 마케팅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멀티캠퍼스</a:t>
            </a:r>
            <a:r>
              <a:rPr lang="en-US" altLang="ko-KR" dirty="0"/>
              <a:t>(KDT </a:t>
            </a:r>
            <a:r>
              <a:rPr lang="ko-KR" altLang="en-US" dirty="0"/>
              <a:t>데이터 분석가 부트캠프</a:t>
            </a:r>
            <a:r>
              <a:rPr lang="en-US" altLang="ko-KR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강사 소개</a:t>
            </a:r>
          </a:p>
        </p:txBody>
      </p:sp>
    </p:spTree>
    <p:extLst>
      <p:ext uri="{BB962C8B-B14F-4D97-AF65-F5344CB8AC3E}">
        <p14:creationId xmlns:p14="http://schemas.microsoft.com/office/powerpoint/2010/main" val="242141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bg1"/>
                </a:solidFill>
              </a:rPr>
              <a:t>금융 데이터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90744" y="271681"/>
            <a:ext cx="8931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</p:spTree>
    <p:extLst>
      <p:ext uri="{BB962C8B-B14F-4D97-AF65-F5344CB8AC3E}">
        <p14:creationId xmlns:p14="http://schemas.microsoft.com/office/powerpoint/2010/main" val="1192776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High Integrity (</a:t>
            </a:r>
            <a:r>
              <a:rPr lang="ko-KR" altLang="en-US" dirty="0" err="1"/>
              <a:t>고결성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0.1%</a:t>
            </a:r>
            <a:r>
              <a:rPr lang="ko-KR" altLang="en-US" dirty="0"/>
              <a:t>의 오차도 허용하지 않는 수치 정확성</a:t>
            </a:r>
            <a:br>
              <a:rPr lang="en-US" altLang="ko-KR" dirty="0"/>
            </a:br>
            <a:endParaRPr lang="ko-KR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Class Imbalance (</a:t>
            </a:r>
            <a:r>
              <a:rPr lang="ko-KR" altLang="en-US" dirty="0"/>
              <a:t>극심한 불균형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정상 </a:t>
            </a:r>
            <a:r>
              <a:rPr lang="en-US" altLang="ko-KR" dirty="0"/>
              <a:t>99.9% vs </a:t>
            </a:r>
            <a:r>
              <a:rPr lang="ko-KR" altLang="en-US" dirty="0"/>
              <a:t>연체</a:t>
            </a:r>
            <a:r>
              <a:rPr lang="en-US" altLang="ko-KR" dirty="0"/>
              <a:t>/</a:t>
            </a:r>
            <a:r>
              <a:rPr lang="ko-KR" altLang="en-US" dirty="0"/>
              <a:t>사기 </a:t>
            </a:r>
            <a:r>
              <a:rPr lang="en-US" altLang="ko-KR" dirty="0"/>
              <a:t>0.1%</a:t>
            </a:r>
            <a:r>
              <a:rPr lang="ko-KR" altLang="en-US" dirty="0"/>
              <a:t>의 싸움</a:t>
            </a:r>
            <a:br>
              <a:rPr lang="en-US" altLang="ko-KR" dirty="0"/>
            </a:br>
            <a:endParaRPr lang="ko-KR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 err="1"/>
              <a:t>Explainability</a:t>
            </a:r>
            <a:r>
              <a:rPr lang="en-US" altLang="ko-KR" dirty="0"/>
              <a:t> (</a:t>
            </a:r>
            <a:r>
              <a:rPr lang="ko-KR" altLang="en-US" dirty="0"/>
              <a:t>설명 가능성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결과에 대한 법적</a:t>
            </a:r>
            <a:r>
              <a:rPr lang="en-US" altLang="ko-KR" dirty="0"/>
              <a:t>/</a:t>
            </a:r>
            <a:r>
              <a:rPr lang="ko-KR" altLang="en-US" dirty="0"/>
              <a:t>윤리적 근거 제시 의무 </a:t>
            </a:r>
            <a:r>
              <a:rPr lang="en-US" altLang="ko-KR" dirty="0"/>
              <a:t>(XAI)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금융 데이터의 </a:t>
            </a:r>
            <a:r>
              <a:rPr lang="en-US" altLang="ko-KR" sz="2300" dirty="0"/>
              <a:t>3</a:t>
            </a:r>
            <a:r>
              <a:rPr lang="ko-KR" altLang="en-US" sz="2300" dirty="0"/>
              <a:t>대 특징</a:t>
            </a:r>
          </a:p>
        </p:txBody>
      </p:sp>
    </p:spTree>
    <p:extLst>
      <p:ext uri="{BB962C8B-B14F-4D97-AF65-F5344CB8AC3E}">
        <p14:creationId xmlns:p14="http://schemas.microsoft.com/office/powerpoint/2010/main" val="2660614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신용 평가 모델링 </a:t>
            </a:r>
            <a:r>
              <a:rPr lang="en-US" altLang="ko-KR" dirty="0"/>
              <a:t>(Credit Scoring)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과거</a:t>
            </a:r>
            <a:r>
              <a:rPr lang="en-US" altLang="ko-KR" dirty="0"/>
              <a:t>: </a:t>
            </a:r>
            <a:r>
              <a:rPr lang="ko-KR" altLang="en-US" dirty="0"/>
              <a:t>스무고개 형태의 </a:t>
            </a:r>
            <a:r>
              <a:rPr lang="ko-KR" altLang="en-US" dirty="0" err="1"/>
              <a:t>점수표</a:t>
            </a:r>
            <a:r>
              <a:rPr lang="ko-KR" altLang="en-US" dirty="0"/>
              <a:t> </a:t>
            </a:r>
            <a:r>
              <a:rPr lang="en-US" altLang="ko-KR" dirty="0"/>
              <a:t>(Scorecard)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현재</a:t>
            </a:r>
            <a:r>
              <a:rPr lang="en-US" altLang="ko-KR" dirty="0"/>
              <a:t>: </a:t>
            </a:r>
            <a:r>
              <a:rPr lang="ko-KR" altLang="en-US" dirty="0" err="1"/>
              <a:t>머신러닝</a:t>
            </a:r>
            <a:r>
              <a:rPr lang="ko-KR" altLang="en-US" dirty="0"/>
              <a:t> 기반 부도 확률 산출</a:t>
            </a:r>
            <a:br>
              <a:rPr lang="en-US" altLang="ko-KR" dirty="0"/>
            </a:b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대안 데이터</a:t>
            </a:r>
            <a:r>
              <a:rPr lang="en-US" altLang="ko-KR" dirty="0"/>
              <a:t>(Alternative Data)</a:t>
            </a:r>
            <a:r>
              <a:rPr lang="ko-KR" altLang="en-US" dirty="0"/>
              <a:t>의 부상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금융 이력이 부족한 </a:t>
            </a:r>
            <a:r>
              <a:rPr lang="ko-KR" altLang="en-US" dirty="0" err="1"/>
              <a:t>씬파일러</a:t>
            </a:r>
            <a:r>
              <a:rPr lang="en-US" altLang="ko-KR" dirty="0"/>
              <a:t>(Thin-Filer)</a:t>
            </a:r>
            <a:r>
              <a:rPr lang="ko-KR" altLang="en-US" dirty="0"/>
              <a:t>를 위한 혁신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통신비 납부 내역</a:t>
            </a:r>
            <a:r>
              <a:rPr lang="en-US" altLang="ko-KR" dirty="0"/>
              <a:t>, </a:t>
            </a:r>
            <a:r>
              <a:rPr lang="ko-KR" altLang="en-US" dirty="0"/>
              <a:t>배달 앱 데이터</a:t>
            </a:r>
            <a:r>
              <a:rPr lang="en-US" altLang="ko-KR" dirty="0"/>
              <a:t>, </a:t>
            </a:r>
            <a:r>
              <a:rPr lang="ko-KR" altLang="en-US" dirty="0"/>
              <a:t>비정형 행동 패턴 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대안 데이터와 신용 평가</a:t>
            </a:r>
          </a:p>
        </p:txBody>
      </p:sp>
    </p:spTree>
    <p:extLst>
      <p:ext uri="{BB962C8B-B14F-4D97-AF65-F5344CB8AC3E}">
        <p14:creationId xmlns:p14="http://schemas.microsoft.com/office/powerpoint/2010/main" val="4036247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FDS (Fraud Detection System)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고객의 평소 소비 </a:t>
            </a:r>
            <a:r>
              <a:rPr lang="en-US" altLang="ko-KR" dirty="0"/>
              <a:t>DNA</a:t>
            </a:r>
            <a:r>
              <a:rPr lang="ko-KR" altLang="en-US" dirty="0"/>
              <a:t>와 현재 결제 패턴을 실시간 비교</a:t>
            </a:r>
            <a:br>
              <a:rPr lang="en-US" altLang="ko-KR" dirty="0"/>
            </a:b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평가 지표의 함정</a:t>
            </a:r>
            <a:r>
              <a:rPr lang="en-US" altLang="ko-KR" dirty="0"/>
              <a:t>: </a:t>
            </a:r>
            <a:r>
              <a:rPr lang="ko-KR" altLang="en-US" dirty="0"/>
              <a:t>정확도</a:t>
            </a:r>
            <a:r>
              <a:rPr lang="en-US" altLang="ko-KR" dirty="0"/>
              <a:t>(Accuracy) vs </a:t>
            </a:r>
            <a:r>
              <a:rPr lang="ko-KR" altLang="en-US" dirty="0" err="1"/>
              <a:t>재현율</a:t>
            </a:r>
            <a:r>
              <a:rPr lang="en-US" altLang="ko-KR" dirty="0"/>
              <a:t>(Recall)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'</a:t>
            </a:r>
            <a:r>
              <a:rPr lang="ko-KR" altLang="en-US" dirty="0"/>
              <a:t>모두 정상이다</a:t>
            </a:r>
            <a:r>
              <a:rPr lang="en-US" altLang="ko-KR" dirty="0"/>
              <a:t>'</a:t>
            </a:r>
            <a:r>
              <a:rPr lang="ko-KR" altLang="en-US" dirty="0"/>
              <a:t>라고 찍어도 정확도는 </a:t>
            </a:r>
            <a:r>
              <a:rPr lang="en-US" altLang="ko-KR" dirty="0"/>
              <a:t>99.9%</a:t>
            </a:r>
            <a:r>
              <a:rPr lang="ko-KR" altLang="en-US" dirty="0"/>
              <a:t>가 나오는 함정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실제 사기꾼 중 몇 명을 잡아냈는가</a:t>
            </a:r>
            <a:r>
              <a:rPr lang="en-US" altLang="ko-KR" dirty="0"/>
              <a:t>?(</a:t>
            </a:r>
            <a:r>
              <a:rPr lang="ko-KR" altLang="en-US" dirty="0" err="1"/>
              <a:t>재현율</a:t>
            </a:r>
            <a:r>
              <a:rPr lang="en-US" altLang="ko-KR" dirty="0"/>
              <a:t>)</a:t>
            </a:r>
            <a:r>
              <a:rPr lang="ko-KR" altLang="en-US" dirty="0"/>
              <a:t>가 금융 보안의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이상거래 탐지</a:t>
            </a:r>
            <a:r>
              <a:rPr lang="en-US" altLang="ko-KR" sz="2300" dirty="0"/>
              <a:t>(FDS)</a:t>
            </a:r>
            <a:r>
              <a:rPr lang="ko-KR" altLang="en-US" sz="2300" dirty="0"/>
              <a:t>와 </a:t>
            </a:r>
            <a:r>
              <a:rPr lang="ko-KR" altLang="en-US" sz="2300" dirty="0" err="1"/>
              <a:t>재현율</a:t>
            </a:r>
            <a:r>
              <a:rPr lang="en-US" altLang="ko-KR" sz="2300" dirty="0"/>
              <a:t>(Recall)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4178040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AI</a:t>
            </a:r>
            <a:r>
              <a:rPr lang="ko-KR" altLang="en-US" dirty="0"/>
              <a:t>는 거들 뿐</a:t>
            </a:r>
            <a:r>
              <a:rPr lang="en-US" altLang="ko-KR" dirty="0"/>
              <a:t>, </a:t>
            </a:r>
            <a:r>
              <a:rPr lang="ko-KR" altLang="en-US" dirty="0"/>
              <a:t>시작은 룰</a:t>
            </a:r>
            <a:r>
              <a:rPr lang="en-US" altLang="ko-KR" dirty="0"/>
              <a:t>(Rule)</a:t>
            </a:r>
            <a:r>
              <a:rPr lang="ko-KR" altLang="en-US" dirty="0"/>
              <a:t>이다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(Rule-based): '</a:t>
            </a:r>
            <a:r>
              <a:rPr lang="ko-KR" altLang="en-US" dirty="0"/>
              <a:t>비번 </a:t>
            </a:r>
            <a:r>
              <a:rPr lang="en-US" altLang="ko-KR" dirty="0"/>
              <a:t>3</a:t>
            </a:r>
            <a:r>
              <a:rPr lang="ko-KR" altLang="en-US" dirty="0"/>
              <a:t>회 오류</a:t>
            </a:r>
            <a:r>
              <a:rPr lang="en-US" altLang="ko-KR" dirty="0"/>
              <a:t>' </a:t>
            </a:r>
            <a:r>
              <a:rPr lang="ko-KR" altLang="en-US" dirty="0"/>
              <a:t>등 명확한 조건은 </a:t>
            </a:r>
            <a:r>
              <a:rPr lang="en-US" altLang="ko-KR" dirty="0"/>
              <a:t>0.01</a:t>
            </a:r>
            <a:r>
              <a:rPr lang="ko-KR" altLang="en-US" dirty="0"/>
              <a:t>초 만에 즉각 차단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(AI-based): </a:t>
            </a:r>
            <a:r>
              <a:rPr lang="ko-KR" altLang="en-US" dirty="0"/>
              <a:t>룰을 통과한 교묘한 결제만 </a:t>
            </a:r>
            <a:r>
              <a:rPr lang="ko-KR" altLang="en-US" dirty="0" err="1"/>
              <a:t>머신러닝으로</a:t>
            </a:r>
            <a:r>
              <a:rPr lang="ko-KR" altLang="en-US" dirty="0"/>
              <a:t> 스코어링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이유</a:t>
            </a:r>
            <a:r>
              <a:rPr lang="en-US" altLang="ko-KR" dirty="0"/>
              <a:t>: </a:t>
            </a:r>
            <a:r>
              <a:rPr lang="ko-KR" altLang="en-US" dirty="0"/>
              <a:t>초당 수만 건의 결제를 모두 무거운 </a:t>
            </a:r>
            <a:r>
              <a:rPr lang="ko-KR" altLang="en-US" dirty="0" err="1"/>
              <a:t>딥러닝에</a:t>
            </a:r>
            <a:r>
              <a:rPr lang="ko-KR" altLang="en-US" dirty="0"/>
              <a:t> 넣으면 서버가 마비됨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실전 </a:t>
            </a:r>
            <a:r>
              <a:rPr lang="en-US" altLang="ko-KR" sz="2300" dirty="0"/>
              <a:t>FDS </a:t>
            </a:r>
            <a:r>
              <a:rPr lang="ko-KR" altLang="en-US" sz="2300" dirty="0"/>
              <a:t>아키텍처</a:t>
            </a:r>
            <a:r>
              <a:rPr lang="en-US" altLang="ko-KR" sz="2300" dirty="0"/>
              <a:t>: </a:t>
            </a:r>
            <a:r>
              <a:rPr lang="ko-KR" altLang="en-US" sz="2300" dirty="0"/>
              <a:t>하이브리드 전략</a:t>
            </a:r>
          </a:p>
        </p:txBody>
      </p:sp>
    </p:spTree>
    <p:extLst>
      <p:ext uri="{BB962C8B-B14F-4D97-AF65-F5344CB8AC3E}">
        <p14:creationId xmlns:p14="http://schemas.microsoft.com/office/powerpoint/2010/main" val="3331143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단일 결제 데이터의 한계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'</a:t>
            </a:r>
            <a:r>
              <a:rPr lang="ko-KR" altLang="en-US" dirty="0"/>
              <a:t>점심시간 </a:t>
            </a:r>
            <a:r>
              <a:rPr lang="en-US" altLang="ko-KR" dirty="0"/>
              <a:t>1</a:t>
            </a:r>
            <a:r>
              <a:rPr lang="ko-KR" altLang="en-US" dirty="0"/>
              <a:t>만 원 결제</a:t>
            </a:r>
            <a:r>
              <a:rPr lang="en-US" altLang="ko-KR" dirty="0"/>
              <a:t>' </a:t>
            </a:r>
            <a:r>
              <a:rPr lang="ko-KR" altLang="en-US" dirty="0"/>
              <a:t>자체는 정상 데이터로 보임</a:t>
            </a:r>
            <a:br>
              <a:rPr lang="en-US" altLang="ko-KR" dirty="0"/>
            </a:b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벨로시티</a:t>
            </a:r>
            <a:r>
              <a:rPr lang="en-US" altLang="ko-KR" dirty="0"/>
              <a:t>(</a:t>
            </a:r>
            <a:r>
              <a:rPr lang="ko-KR" altLang="en-US" dirty="0"/>
              <a:t>속도</a:t>
            </a:r>
            <a:r>
              <a:rPr lang="en-US" altLang="ko-KR" dirty="0"/>
              <a:t>/</a:t>
            </a:r>
            <a:r>
              <a:rPr lang="ko-KR" altLang="en-US" dirty="0"/>
              <a:t>빈도</a:t>
            </a:r>
            <a:r>
              <a:rPr lang="en-US" altLang="ko-KR" dirty="0"/>
              <a:t>) </a:t>
            </a:r>
            <a:r>
              <a:rPr lang="ko-KR" altLang="en-US" dirty="0"/>
              <a:t>변수의 마법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'</a:t>
            </a:r>
            <a:r>
              <a:rPr lang="ko-KR" altLang="en-US" dirty="0"/>
              <a:t>최근 </a:t>
            </a:r>
            <a:r>
              <a:rPr lang="en-US" altLang="ko-KR" dirty="0"/>
              <a:t>10</a:t>
            </a:r>
            <a:r>
              <a:rPr lang="ko-KR" altLang="en-US" dirty="0"/>
              <a:t>분 내 결제 시도 횟수</a:t>
            </a:r>
            <a:r>
              <a:rPr lang="en-US" altLang="ko-KR" dirty="0"/>
              <a:t>'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'</a:t>
            </a:r>
            <a:r>
              <a:rPr lang="ko-KR" altLang="en-US" dirty="0"/>
              <a:t>오늘 결제 금액 합계 </a:t>
            </a:r>
            <a:r>
              <a:rPr lang="en-US" altLang="ko-KR" dirty="0"/>
              <a:t>/ </a:t>
            </a:r>
            <a:r>
              <a:rPr lang="ko-KR" altLang="en-US" dirty="0"/>
              <a:t>최근 </a:t>
            </a:r>
            <a:r>
              <a:rPr lang="en-US" altLang="ko-KR" dirty="0"/>
              <a:t>3</a:t>
            </a:r>
            <a:r>
              <a:rPr lang="ko-KR" altLang="en-US" dirty="0"/>
              <a:t>개월 일평균 결제 금액</a:t>
            </a:r>
            <a:r>
              <a:rPr lang="en-US" altLang="ko-KR" dirty="0"/>
              <a:t>'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사기꾼 특유의 </a:t>
            </a:r>
            <a:r>
              <a:rPr lang="en-US" altLang="ko-KR" dirty="0"/>
              <a:t>'</a:t>
            </a:r>
            <a:r>
              <a:rPr lang="ko-KR" altLang="en-US" dirty="0"/>
              <a:t>짧은 시간 내 현금화</a:t>
            </a:r>
            <a:r>
              <a:rPr lang="en-US" altLang="ko-KR" dirty="0"/>
              <a:t>' </a:t>
            </a:r>
            <a:r>
              <a:rPr lang="ko-KR" altLang="en-US" dirty="0"/>
              <a:t>패턴을 </a:t>
            </a:r>
            <a:r>
              <a:rPr lang="ko-KR" altLang="en-US" dirty="0" err="1"/>
              <a:t>수치화하여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에 전달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FDS </a:t>
            </a:r>
            <a:r>
              <a:rPr lang="ko-KR" altLang="en-US" sz="2300" dirty="0"/>
              <a:t>피처 엔지니어링</a:t>
            </a:r>
            <a:r>
              <a:rPr lang="en-US" altLang="ko-KR" sz="2300" dirty="0"/>
              <a:t>: </a:t>
            </a:r>
            <a:r>
              <a:rPr lang="ko-KR" altLang="en-US" sz="2300" dirty="0" err="1"/>
              <a:t>벨로시티</a:t>
            </a:r>
            <a:r>
              <a:rPr lang="en-US" altLang="ko-KR" sz="2300" dirty="0"/>
              <a:t>(Velocity)</a:t>
            </a:r>
          </a:p>
        </p:txBody>
      </p:sp>
    </p:spTree>
    <p:extLst>
      <p:ext uri="{BB962C8B-B14F-4D97-AF65-F5344CB8AC3E}">
        <p14:creationId xmlns:p14="http://schemas.microsoft.com/office/powerpoint/2010/main" val="2750650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기존 점</a:t>
            </a:r>
            <a:r>
              <a:rPr lang="en-US" altLang="ko-KR" dirty="0"/>
              <a:t>(Point) </a:t>
            </a:r>
            <a:r>
              <a:rPr lang="ko-KR" altLang="en-US" dirty="0"/>
              <a:t>단위 분석의 한계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고객 </a:t>
            </a:r>
            <a:r>
              <a:rPr lang="en-US" altLang="ko-KR" dirty="0"/>
              <a:t>1</a:t>
            </a:r>
            <a:r>
              <a:rPr lang="ko-KR" altLang="en-US" dirty="0"/>
              <a:t>명의 결제 내역만 독립적으로 분석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선</a:t>
            </a:r>
            <a:r>
              <a:rPr lang="en-US" altLang="ko-KR" dirty="0"/>
              <a:t>(Edge) </a:t>
            </a:r>
            <a:r>
              <a:rPr lang="ko-KR" altLang="en-US" dirty="0"/>
              <a:t>단위 네트워크 분석의 도입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'</a:t>
            </a:r>
            <a:r>
              <a:rPr lang="ko-KR" altLang="en-US" dirty="0"/>
              <a:t>서로 다른 고객 </a:t>
            </a:r>
            <a:r>
              <a:rPr lang="en-US" altLang="ko-KR" dirty="0"/>
              <a:t>10</a:t>
            </a:r>
            <a:r>
              <a:rPr lang="ko-KR" altLang="en-US" dirty="0"/>
              <a:t>명이 왜 같은 디바이스</a:t>
            </a:r>
            <a:r>
              <a:rPr lang="en-US" altLang="ko-KR" dirty="0"/>
              <a:t>(</a:t>
            </a:r>
            <a:r>
              <a:rPr lang="ko-KR" altLang="en-US" dirty="0"/>
              <a:t>기기</a:t>
            </a:r>
            <a:r>
              <a:rPr lang="en-US" altLang="ko-KR" dirty="0"/>
              <a:t>) ID</a:t>
            </a:r>
            <a:r>
              <a:rPr lang="ko-KR" altLang="en-US" dirty="0"/>
              <a:t>로 접속할까</a:t>
            </a:r>
            <a:r>
              <a:rPr lang="en-US" altLang="ko-KR" dirty="0"/>
              <a:t>?'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대포통장</a:t>
            </a:r>
            <a:r>
              <a:rPr lang="en-US" altLang="ko-KR" dirty="0"/>
              <a:t>, </a:t>
            </a:r>
            <a:r>
              <a:rPr lang="ko-KR" altLang="en-US" dirty="0"/>
              <a:t>보이스피싱 등 </a:t>
            </a:r>
            <a:r>
              <a:rPr lang="ko-KR" altLang="en-US" dirty="0" err="1"/>
              <a:t>점조직</a:t>
            </a:r>
            <a:r>
              <a:rPr lang="ko-KR" altLang="en-US" dirty="0"/>
              <a:t> 형태의 조직적 범죄 연루 고리 시각화 및 차단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진화하는 사기 탐지</a:t>
            </a:r>
            <a:r>
              <a:rPr lang="en-US" altLang="ko-KR" sz="2300" dirty="0"/>
              <a:t>: </a:t>
            </a:r>
            <a:r>
              <a:rPr lang="ko-KR" altLang="en-US" sz="2300" dirty="0"/>
              <a:t>네트워크</a:t>
            </a:r>
            <a:r>
              <a:rPr lang="en-US" altLang="ko-KR" sz="2300" dirty="0"/>
              <a:t>(Graph) </a:t>
            </a:r>
            <a:r>
              <a:rPr lang="ko-KR" altLang="en-US" sz="2300" dirty="0"/>
              <a:t>분석</a:t>
            </a:r>
          </a:p>
        </p:txBody>
      </p:sp>
    </p:spTree>
    <p:extLst>
      <p:ext uri="{BB962C8B-B14F-4D97-AF65-F5344CB8AC3E}">
        <p14:creationId xmlns:p14="http://schemas.microsoft.com/office/powerpoint/2010/main" val="4039413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불균형 해소</a:t>
            </a:r>
            <a:r>
              <a:rPr lang="en-US" altLang="ko-KR" dirty="0"/>
              <a:t>: SMOTE</a:t>
            </a:r>
            <a:r>
              <a:rPr lang="ko-KR" altLang="en-US" dirty="0"/>
              <a:t>로 사기 데이터를 복제하여 학습량 확보</a:t>
            </a:r>
            <a:br>
              <a:rPr lang="en-US" altLang="ko-KR" dirty="0"/>
            </a:b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XAI 3</a:t>
            </a:r>
            <a:r>
              <a:rPr lang="ko-KR" altLang="en-US" dirty="0"/>
              <a:t>대장 </a:t>
            </a:r>
            <a:r>
              <a:rPr lang="en-US" altLang="ko-KR" dirty="0"/>
              <a:t>(</a:t>
            </a:r>
            <a:r>
              <a:rPr lang="ko-KR" altLang="en-US" dirty="0"/>
              <a:t>설명 가능한 </a:t>
            </a:r>
            <a:r>
              <a:rPr lang="en-US" altLang="ko-KR" dirty="0"/>
              <a:t>AI)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SHAP: </a:t>
            </a:r>
            <a:r>
              <a:rPr lang="ko-KR" altLang="en-US" dirty="0"/>
              <a:t>모든 변수의 기여도를 게임 이론으로 완벽히 분배 </a:t>
            </a:r>
            <a:r>
              <a:rPr lang="en-US" altLang="ko-KR" dirty="0"/>
              <a:t>(</a:t>
            </a:r>
            <a:r>
              <a:rPr lang="ko-KR" altLang="en-US" dirty="0"/>
              <a:t>가장 정교함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LIME: </a:t>
            </a:r>
            <a:r>
              <a:rPr lang="ko-KR" altLang="en-US" dirty="0"/>
              <a:t>특정 고객 주변만 돋보기로 확대해 선형</a:t>
            </a:r>
            <a:r>
              <a:rPr lang="en-US" altLang="ko-KR" dirty="0"/>
              <a:t>(</a:t>
            </a:r>
            <a:r>
              <a:rPr lang="ko-KR" altLang="en-US" dirty="0"/>
              <a:t>직선</a:t>
            </a:r>
            <a:r>
              <a:rPr lang="en-US" altLang="ko-KR" dirty="0"/>
              <a:t>)</a:t>
            </a:r>
            <a:r>
              <a:rPr lang="ko-KR" altLang="en-US" dirty="0"/>
              <a:t>으로 빠르게 설명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PDP (</a:t>
            </a:r>
            <a:r>
              <a:rPr lang="ko-KR" altLang="en-US" dirty="0"/>
              <a:t>부분 의존성 차트</a:t>
            </a:r>
            <a:r>
              <a:rPr lang="en-US" altLang="ko-KR" dirty="0"/>
              <a:t>): '</a:t>
            </a:r>
            <a:r>
              <a:rPr lang="ko-KR" altLang="en-US" dirty="0"/>
              <a:t>연봉</a:t>
            </a:r>
            <a:r>
              <a:rPr lang="en-US" altLang="ko-KR" dirty="0"/>
              <a:t>' </a:t>
            </a:r>
            <a:r>
              <a:rPr lang="ko-KR" altLang="en-US" dirty="0"/>
              <a:t>하나만 계속 변할 때 승인율의 전체 트렌드 파악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AI</a:t>
            </a:r>
            <a:r>
              <a:rPr lang="ko-KR" altLang="en-US" sz="2300" dirty="0"/>
              <a:t>의 속마음을 해부하다</a:t>
            </a:r>
            <a:r>
              <a:rPr lang="en-US" altLang="ko-KR" sz="2300" dirty="0"/>
              <a:t>: XAI</a:t>
            </a:r>
          </a:p>
        </p:txBody>
      </p:sp>
    </p:spTree>
    <p:extLst>
      <p:ext uri="{BB962C8B-B14F-4D97-AF65-F5344CB8AC3E}">
        <p14:creationId xmlns:p14="http://schemas.microsoft.com/office/powerpoint/2010/main" val="954125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bg1"/>
                </a:solidFill>
              </a:rPr>
              <a:t>주식 데이터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90744" y="271681"/>
            <a:ext cx="8931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</p:spTree>
    <p:extLst>
      <p:ext uri="{BB962C8B-B14F-4D97-AF65-F5344CB8AC3E}">
        <p14:creationId xmlns:p14="http://schemas.microsoft.com/office/powerpoint/2010/main" val="2546734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시계열</a:t>
            </a:r>
            <a:r>
              <a:rPr lang="en-US" altLang="ko-KR" dirty="0"/>
              <a:t>(Time-Series) </a:t>
            </a:r>
            <a:r>
              <a:rPr lang="ko-KR" altLang="en-US" dirty="0"/>
              <a:t>데이터의 특징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과거의 기억</a:t>
            </a:r>
            <a:r>
              <a:rPr lang="en-US" altLang="ko-KR" dirty="0"/>
              <a:t>(Memory)</a:t>
            </a:r>
            <a:r>
              <a:rPr lang="ko-KR" altLang="en-US" dirty="0"/>
              <a:t>이 현재 가격에 영향을 미치는 자기상관성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미래 참조 오류 </a:t>
            </a:r>
            <a:r>
              <a:rPr lang="en-US" altLang="ko-KR" dirty="0"/>
              <a:t>(Data Leakage)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모델 학습 시 </a:t>
            </a:r>
            <a:r>
              <a:rPr lang="en-US" altLang="ko-KR" dirty="0"/>
              <a:t>'</a:t>
            </a:r>
            <a:r>
              <a:rPr lang="ko-KR" altLang="en-US" dirty="0"/>
              <a:t>미래의 정보</a:t>
            </a:r>
            <a:r>
              <a:rPr lang="en-US" altLang="ko-KR" dirty="0"/>
              <a:t>'</a:t>
            </a:r>
            <a:r>
              <a:rPr lang="ko-KR" altLang="en-US" dirty="0"/>
              <a:t>가 실수로 섞여 들어가는 치명적 오류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내일 종가를 예측하는데 </a:t>
            </a:r>
            <a:r>
              <a:rPr lang="en-US" altLang="ko-KR" dirty="0"/>
              <a:t>'</a:t>
            </a:r>
            <a:r>
              <a:rPr lang="ko-KR" altLang="en-US" dirty="0"/>
              <a:t>내일 시가</a:t>
            </a:r>
            <a:r>
              <a:rPr lang="en-US" altLang="ko-KR" dirty="0"/>
              <a:t>'</a:t>
            </a:r>
            <a:r>
              <a:rPr lang="ko-KR" altLang="en-US" dirty="0"/>
              <a:t>를 학습 변수로 넣는 실수 </a:t>
            </a:r>
            <a:r>
              <a:rPr lang="en-US" altLang="ko-KR" dirty="0"/>
              <a:t>(</a:t>
            </a:r>
            <a:r>
              <a:rPr lang="ko-KR" altLang="en-US" dirty="0"/>
              <a:t>실전 적용 불가</a:t>
            </a:r>
            <a:r>
              <a:rPr lang="en-US" altLang="ko-KR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시계열 데이터와 미래 참조 오류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4089232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일일 주가 예측</a:t>
            </a:r>
            <a:r>
              <a:rPr lang="en-US" altLang="ko-KR" dirty="0"/>
              <a:t>(Regression)</a:t>
            </a:r>
            <a:r>
              <a:rPr lang="ko-KR" altLang="en-US" dirty="0"/>
              <a:t>의 한계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극심한 노이즈</a:t>
            </a:r>
            <a:r>
              <a:rPr lang="en-US" altLang="ko-KR" dirty="0"/>
              <a:t>(Noise)</a:t>
            </a:r>
            <a:r>
              <a:rPr lang="ko-KR" altLang="en-US" dirty="0"/>
              <a:t>와 랜덤 워크 특성으로 정확한 가격 예측은 신의 영역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이동평균선</a:t>
            </a:r>
            <a:r>
              <a:rPr lang="en-US" altLang="ko-KR" dirty="0"/>
              <a:t>(MA)</a:t>
            </a:r>
            <a:r>
              <a:rPr lang="ko-KR" altLang="en-US" dirty="0"/>
              <a:t>을 활용한 트렌드 필터링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단기 변동성을 깎아내고 시장의 거대한 방향성</a:t>
            </a:r>
            <a:r>
              <a:rPr lang="en-US" altLang="ko-KR" dirty="0"/>
              <a:t>(</a:t>
            </a:r>
            <a:r>
              <a:rPr lang="ko-KR" altLang="en-US" dirty="0"/>
              <a:t>밀물</a:t>
            </a:r>
            <a:r>
              <a:rPr lang="en-US" altLang="ko-KR" dirty="0"/>
              <a:t>/</a:t>
            </a:r>
            <a:r>
              <a:rPr lang="ko-KR" altLang="en-US" dirty="0"/>
              <a:t>썰물</a:t>
            </a:r>
            <a:r>
              <a:rPr lang="en-US" altLang="ko-KR" dirty="0"/>
              <a:t>)</a:t>
            </a:r>
            <a:r>
              <a:rPr lang="ko-KR" altLang="en-US" dirty="0"/>
              <a:t>을 파악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실전 투자 전략과의 결합 </a:t>
            </a:r>
            <a:r>
              <a:rPr lang="en-US" altLang="ko-KR" dirty="0"/>
              <a:t>(Classification)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'</a:t>
            </a:r>
            <a:r>
              <a:rPr lang="ko-KR" altLang="en-US" dirty="0"/>
              <a:t>내일 주가가 </a:t>
            </a:r>
            <a:r>
              <a:rPr lang="en-US" altLang="ko-KR" dirty="0"/>
              <a:t>20</a:t>
            </a:r>
            <a:r>
              <a:rPr lang="ko-KR" altLang="en-US" dirty="0"/>
              <a:t>일 이동평균선을 뚫고 올라갈 것인가</a:t>
            </a:r>
            <a:r>
              <a:rPr lang="en-US" altLang="ko-KR" dirty="0"/>
              <a:t>? (Golden Cross)'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1(</a:t>
            </a:r>
            <a:r>
              <a:rPr lang="ko-KR" altLang="en-US" dirty="0"/>
              <a:t>상승 돌파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en-US" altLang="ko-KR" dirty="0"/>
              <a:t>0(</a:t>
            </a:r>
            <a:r>
              <a:rPr lang="ko-KR" altLang="en-US" dirty="0"/>
              <a:t>하락 이탈</a:t>
            </a:r>
            <a:r>
              <a:rPr lang="en-US" altLang="ko-KR" dirty="0"/>
              <a:t>)</a:t>
            </a:r>
            <a:r>
              <a:rPr lang="ko-KR" altLang="en-US" dirty="0"/>
              <a:t>의 문제로 정의하여 자동 매매 봇과 즉각 연동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왜 </a:t>
            </a:r>
            <a:r>
              <a:rPr lang="en-US" altLang="ko-KR" sz="2300" dirty="0"/>
              <a:t>'</a:t>
            </a:r>
            <a:r>
              <a:rPr lang="ko-KR" altLang="en-US" sz="2300" dirty="0" err="1"/>
              <a:t>이평선</a:t>
            </a:r>
            <a:r>
              <a:rPr lang="ko-KR" altLang="en-US" sz="2300" dirty="0"/>
              <a:t> 기준 이진 분류</a:t>
            </a:r>
            <a:r>
              <a:rPr lang="en-US" altLang="ko-KR" sz="2300" dirty="0"/>
              <a:t>'</a:t>
            </a:r>
            <a:r>
              <a:rPr lang="ko-KR" altLang="en-US" sz="2300" dirty="0"/>
              <a:t>인가</a:t>
            </a:r>
            <a:r>
              <a:rPr lang="en-US" altLang="ko-KR" sz="23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06632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숫자 데이터의 한계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차트는 </a:t>
            </a:r>
            <a:r>
              <a:rPr lang="en-US" altLang="ko-KR" dirty="0"/>
              <a:t>CEO</a:t>
            </a:r>
            <a:r>
              <a:rPr lang="ko-KR" altLang="en-US" dirty="0"/>
              <a:t>의 돌발 발언이나 갑작스러운 금리 인상 속보를 </a:t>
            </a:r>
            <a:r>
              <a:rPr lang="ko-KR" altLang="en-US" dirty="0" err="1"/>
              <a:t>선반영하지</a:t>
            </a:r>
            <a:r>
              <a:rPr lang="ko-KR" altLang="en-US" dirty="0"/>
              <a:t> 못함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자연어 처리</a:t>
            </a:r>
            <a:r>
              <a:rPr lang="en-US" altLang="ko-KR" dirty="0"/>
              <a:t>(NLP) </a:t>
            </a:r>
            <a:r>
              <a:rPr lang="ko-KR" altLang="en-US" dirty="0"/>
              <a:t>감성 분석 파이프라인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매일 아침 종목 뉴스 수집 </a:t>
            </a:r>
            <a:r>
              <a:rPr lang="en-US" altLang="ko-KR" dirty="0"/>
              <a:t>-&gt; </a:t>
            </a:r>
            <a:r>
              <a:rPr lang="ko-KR" altLang="en-US" dirty="0"/>
              <a:t>형태소 토큰화 </a:t>
            </a:r>
            <a:r>
              <a:rPr lang="en-US" altLang="ko-KR" dirty="0"/>
              <a:t>-&gt; </a:t>
            </a:r>
            <a:r>
              <a:rPr lang="en-US" altLang="ko-KR" dirty="0" err="1"/>
              <a:t>FinBERT</a:t>
            </a:r>
            <a:r>
              <a:rPr lang="en-US" altLang="ko-KR" dirty="0"/>
              <a:t> </a:t>
            </a:r>
            <a:r>
              <a:rPr lang="ko-KR" altLang="en-US" dirty="0"/>
              <a:t>모델로 극성 판별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예</a:t>
            </a:r>
            <a:r>
              <a:rPr lang="en-US" altLang="ko-KR" dirty="0"/>
              <a:t>: '</a:t>
            </a:r>
            <a:r>
              <a:rPr lang="ko-KR" altLang="en-US" dirty="0"/>
              <a:t>미 연준 금리 깜짝 인상</a:t>
            </a:r>
            <a:r>
              <a:rPr lang="en-US" altLang="ko-KR" dirty="0"/>
              <a:t>' -&gt; </a:t>
            </a:r>
            <a:r>
              <a:rPr lang="ko-KR" altLang="en-US" dirty="0"/>
              <a:t>감성 점수 </a:t>
            </a:r>
            <a:r>
              <a:rPr lang="en-US" altLang="ko-KR" dirty="0"/>
              <a:t>-0.8 (</a:t>
            </a:r>
            <a:r>
              <a:rPr lang="ko-KR" altLang="en-US" dirty="0"/>
              <a:t>강한 부정</a:t>
            </a:r>
            <a:r>
              <a:rPr lang="en-US" altLang="ko-KR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대안 데이터의 꽃</a:t>
            </a:r>
            <a:r>
              <a:rPr lang="en-US" altLang="ko-KR" sz="2300" dirty="0"/>
              <a:t>: </a:t>
            </a:r>
            <a:r>
              <a:rPr lang="ko-KR" altLang="en-US" sz="2300" dirty="0"/>
              <a:t>경제 기사 감성 분석 </a:t>
            </a:r>
            <a:r>
              <a:rPr lang="en-US" altLang="ko-KR" sz="2300" dirty="0"/>
              <a:t>(NLP)</a:t>
            </a:r>
          </a:p>
        </p:txBody>
      </p:sp>
    </p:spTree>
    <p:extLst>
      <p:ext uri="{BB962C8B-B14F-4D97-AF65-F5344CB8AC3E}">
        <p14:creationId xmlns:p14="http://schemas.microsoft.com/office/powerpoint/2010/main" val="3096640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Feature Engineering (</a:t>
            </a:r>
            <a:r>
              <a:rPr lang="ko-KR" altLang="en-US" dirty="0"/>
              <a:t>파생 변수화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추출된 감성 점수</a:t>
            </a:r>
            <a:r>
              <a:rPr lang="en-US" altLang="ko-KR" dirty="0"/>
              <a:t>(-1 ~ +1)</a:t>
            </a:r>
            <a:r>
              <a:rPr lang="ko-KR" altLang="en-US" dirty="0"/>
              <a:t>를 기존 재무</a:t>
            </a:r>
            <a:r>
              <a:rPr lang="en-US" altLang="ko-KR" dirty="0"/>
              <a:t>/</a:t>
            </a:r>
            <a:r>
              <a:rPr lang="ko-KR" altLang="en-US" dirty="0"/>
              <a:t>차트 데이터의 새로운 컬럼으로 결합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차트의 </a:t>
            </a:r>
            <a:r>
              <a:rPr lang="en-US" altLang="ko-KR" dirty="0"/>
              <a:t>'</a:t>
            </a:r>
            <a:r>
              <a:rPr lang="ko-KR" altLang="en-US" dirty="0"/>
              <a:t>가격 흐름</a:t>
            </a:r>
            <a:r>
              <a:rPr lang="en-US" altLang="ko-KR" dirty="0"/>
              <a:t>' + </a:t>
            </a:r>
            <a:r>
              <a:rPr lang="ko-KR" altLang="en-US" dirty="0"/>
              <a:t>시장의 </a:t>
            </a:r>
            <a:r>
              <a:rPr lang="en-US" altLang="ko-KR" dirty="0"/>
              <a:t>'</a:t>
            </a:r>
            <a:r>
              <a:rPr lang="ko-KR" altLang="en-US" dirty="0"/>
              <a:t>공포</a:t>
            </a:r>
            <a:r>
              <a:rPr lang="en-US" altLang="ko-KR" dirty="0"/>
              <a:t>/</a:t>
            </a:r>
            <a:r>
              <a:rPr lang="ko-KR" altLang="en-US" dirty="0"/>
              <a:t>탐욕 심리</a:t>
            </a:r>
            <a:r>
              <a:rPr lang="en-US" altLang="ko-KR" dirty="0"/>
              <a:t>'</a:t>
            </a:r>
            <a:r>
              <a:rPr lang="ko-KR" altLang="en-US" dirty="0"/>
              <a:t>를 </a:t>
            </a:r>
            <a:r>
              <a:rPr lang="en-US" altLang="ko-KR" dirty="0"/>
              <a:t>AI</a:t>
            </a:r>
            <a:r>
              <a:rPr lang="ko-KR" altLang="en-US" dirty="0"/>
              <a:t>가 동시에 학습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퀀트</a:t>
            </a:r>
            <a:r>
              <a:rPr lang="en-US" altLang="ko-KR" dirty="0"/>
              <a:t>(Quant) </a:t>
            </a:r>
            <a:r>
              <a:rPr lang="ko-KR" altLang="en-US" dirty="0"/>
              <a:t>투자사들이 예측 정확도를 극적으로 끌어올리는 핵심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NLP </a:t>
            </a:r>
            <a:r>
              <a:rPr lang="ko-KR" altLang="en-US" sz="2300" dirty="0"/>
              <a:t>스코어와 정형 데이터의 결합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1226616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차트와 뉴스의 맹점</a:t>
            </a:r>
            <a:r>
              <a:rPr lang="en-US" altLang="ko-KR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단기적 흐름과 심리는 파악하지만</a:t>
            </a:r>
            <a:r>
              <a:rPr lang="en-US" altLang="ko-KR" dirty="0"/>
              <a:t>, </a:t>
            </a:r>
            <a:r>
              <a:rPr lang="ko-KR" altLang="en-US" dirty="0"/>
              <a:t>기업의 </a:t>
            </a:r>
            <a:r>
              <a:rPr lang="en-US" altLang="ko-KR" dirty="0"/>
              <a:t>'</a:t>
            </a:r>
            <a:r>
              <a:rPr lang="ko-KR" altLang="en-US" dirty="0"/>
              <a:t>본질적 가치</a:t>
            </a:r>
            <a:r>
              <a:rPr lang="en-US" altLang="ko-KR" dirty="0"/>
              <a:t>(</a:t>
            </a:r>
            <a:r>
              <a:rPr lang="ko-KR" altLang="en-US" dirty="0"/>
              <a:t>상장폐지 위험 등</a:t>
            </a:r>
            <a:r>
              <a:rPr lang="en-US" altLang="ko-KR" dirty="0"/>
              <a:t>)'</a:t>
            </a:r>
            <a:r>
              <a:rPr lang="ko-KR" altLang="en-US" dirty="0"/>
              <a:t>를 놓칠 수 있음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재무제표</a:t>
            </a:r>
            <a:r>
              <a:rPr lang="en-US" altLang="ko-KR" dirty="0"/>
              <a:t>(Fundamental) </a:t>
            </a:r>
            <a:r>
              <a:rPr lang="ko-KR" altLang="en-US" dirty="0"/>
              <a:t>피처링</a:t>
            </a:r>
            <a:r>
              <a:rPr lang="en-US" altLang="ko-KR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영업이익률</a:t>
            </a:r>
            <a:r>
              <a:rPr lang="en-US" altLang="ko-KR" dirty="0"/>
              <a:t>, </a:t>
            </a:r>
            <a:r>
              <a:rPr lang="ko-KR" altLang="en-US" dirty="0"/>
              <a:t>부채비율</a:t>
            </a:r>
            <a:r>
              <a:rPr lang="en-US" altLang="ko-KR" dirty="0"/>
              <a:t>, PER/PBR </a:t>
            </a:r>
            <a:r>
              <a:rPr lang="ko-KR" altLang="en-US" dirty="0"/>
              <a:t>등의 지표를 학습 데이터에 결합</a:t>
            </a:r>
            <a:r>
              <a:rPr lang="en-US" altLang="ko-KR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"</a:t>
            </a:r>
            <a:r>
              <a:rPr lang="ko-KR" altLang="en-US" dirty="0"/>
              <a:t>기초 체력이 부실한 기업은 차트가 좋아도 매수하지 않는다</a:t>
            </a:r>
            <a:r>
              <a:rPr lang="en-US" altLang="ko-KR" dirty="0"/>
              <a:t>"</a:t>
            </a:r>
            <a:r>
              <a:rPr lang="ko-KR" altLang="en-US" dirty="0"/>
              <a:t>는 룰 학습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실무적 </a:t>
            </a:r>
            <a:r>
              <a:rPr lang="ko-KR" altLang="en-US" dirty="0" err="1"/>
              <a:t>전처리</a:t>
            </a:r>
            <a:r>
              <a:rPr lang="ko-KR" altLang="en-US" dirty="0"/>
              <a:t> 과제</a:t>
            </a:r>
            <a:r>
              <a:rPr lang="en-US" altLang="ko-KR" dirty="0"/>
              <a:t>: </a:t>
            </a:r>
            <a:r>
              <a:rPr lang="ko-KR" altLang="en-US" dirty="0"/>
              <a:t>주파수 불일치 </a:t>
            </a:r>
            <a:r>
              <a:rPr lang="en-US" altLang="ko-KR" dirty="0"/>
              <a:t>(Frequency Mismatch)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일간 데이터</a:t>
            </a:r>
            <a:r>
              <a:rPr lang="en-US" altLang="ko-KR" dirty="0"/>
              <a:t>(</a:t>
            </a:r>
            <a:r>
              <a:rPr lang="ko-KR" altLang="en-US" dirty="0"/>
              <a:t>주가</a:t>
            </a:r>
            <a:r>
              <a:rPr lang="en-US" altLang="ko-KR" dirty="0"/>
              <a:t>/</a:t>
            </a:r>
            <a:r>
              <a:rPr lang="ko-KR" altLang="en-US" dirty="0"/>
              <a:t>뉴스</a:t>
            </a:r>
            <a:r>
              <a:rPr lang="en-US" altLang="ko-KR" dirty="0"/>
              <a:t>) vs </a:t>
            </a:r>
            <a:r>
              <a:rPr lang="ko-KR" altLang="en-US" dirty="0"/>
              <a:t>분기 데이터</a:t>
            </a:r>
            <a:r>
              <a:rPr lang="en-US" altLang="ko-KR" dirty="0"/>
              <a:t>(</a:t>
            </a:r>
            <a:r>
              <a:rPr lang="ko-KR" altLang="en-US" dirty="0"/>
              <a:t>재무제표</a:t>
            </a:r>
            <a:r>
              <a:rPr lang="en-US" altLang="ko-KR" dirty="0"/>
              <a:t>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결측치</a:t>
            </a:r>
            <a:r>
              <a:rPr lang="en-US" altLang="ko-KR" dirty="0"/>
              <a:t>(</a:t>
            </a:r>
            <a:r>
              <a:rPr lang="en-US" altLang="ko-KR" dirty="0" err="1"/>
              <a:t>NaN</a:t>
            </a:r>
            <a:r>
              <a:rPr lang="en-US" altLang="ko-KR" dirty="0"/>
              <a:t>) </a:t>
            </a:r>
            <a:r>
              <a:rPr lang="ko-KR" altLang="en-US" dirty="0"/>
              <a:t>해결을 위한 시계열 </a:t>
            </a:r>
            <a:r>
              <a:rPr lang="ko-KR" altLang="en-US" dirty="0" err="1"/>
              <a:t>전처리</a:t>
            </a:r>
            <a:r>
              <a:rPr lang="ko-KR" altLang="en-US" dirty="0"/>
              <a:t> 기법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Forward Fill) </a:t>
            </a:r>
            <a:r>
              <a:rPr lang="ko-KR" altLang="en-US" dirty="0"/>
              <a:t>적용 필수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퀀트</a:t>
            </a:r>
            <a:r>
              <a:rPr lang="ko-KR" altLang="en-US" sz="2300" dirty="0"/>
              <a:t> 트라이앵글</a:t>
            </a:r>
            <a:r>
              <a:rPr lang="en-US" altLang="ko-KR" sz="2300" dirty="0"/>
              <a:t>: </a:t>
            </a:r>
            <a:r>
              <a:rPr lang="ko-KR" altLang="en-US" sz="2300" dirty="0"/>
              <a:t>재무 데이터의 결합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1547765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3068960"/>
            <a:ext cx="8640960" cy="352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627784" y="10527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99792" y="2564904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THANK</a:t>
            </a:r>
          </a:p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YOU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8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18151</TotalTime>
  <Words>953</Words>
  <Application>Microsoft Office PowerPoint</Application>
  <PresentationFormat>화면 슬라이드 쇼(4:3)</PresentationFormat>
  <Paragraphs>141</Paragraphs>
  <Slides>17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minhee park</dc:creator>
  <cp:lastModifiedBy>병선 문</cp:lastModifiedBy>
  <cp:revision>167</cp:revision>
  <dcterms:created xsi:type="dcterms:W3CDTF">2016-11-03T20:47:04Z</dcterms:created>
  <dcterms:modified xsi:type="dcterms:W3CDTF">2026-04-02T02:42:01Z</dcterms:modified>
</cp:coreProperties>
</file>