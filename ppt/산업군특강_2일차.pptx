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34" r:id="rId2"/>
    <p:sldId id="322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44" r:id="rId23"/>
    <p:sldId id="342" r:id="rId24"/>
    <p:sldId id="345" r:id="rId25"/>
    <p:sldId id="346" r:id="rId26"/>
    <p:sldId id="347" r:id="rId27"/>
    <p:sldId id="348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21" r:id="rId4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8" autoAdjust="0"/>
    <p:restoredTop sz="93810" autoAdjust="0"/>
  </p:normalViewPr>
  <p:slideViewPr>
    <p:cSldViewPr>
      <p:cViewPr varScale="1">
        <p:scale>
          <a:sx n="151" d="100"/>
          <a:sy n="151" d="100"/>
        </p:scale>
        <p:origin x="2046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704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396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179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504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08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699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86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086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102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436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955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609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273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399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9040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573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823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220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2668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577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9821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1111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797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9545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444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1783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9683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6690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9674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9634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38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937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9515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6547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680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896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5337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878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8645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182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6799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2026-04-03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44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데이터 분석가 부트캠프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(AI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활용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퍼널</a:t>
            </a:r>
            <a:r>
              <a:rPr lang="ko-KR" altLang="en-US" sz="3500" b="1" dirty="0">
                <a:solidFill>
                  <a:schemeClr val="bg1"/>
                </a:solidFill>
              </a:rPr>
              <a:t> 분석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90744" y="271681"/>
            <a:ext cx="893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문제 제기</a:t>
            </a:r>
            <a:r>
              <a:rPr lang="en-US" altLang="ko-KR" dirty="0"/>
              <a:t>: </a:t>
            </a:r>
            <a:r>
              <a:rPr lang="ko-KR" altLang="en-US" dirty="0"/>
              <a:t>트래픽은 늘어나는데 매출은 오르지 않는 </a:t>
            </a:r>
            <a:r>
              <a:rPr lang="en-US" altLang="ko-KR" dirty="0"/>
              <a:t>'</a:t>
            </a:r>
            <a:r>
              <a:rPr lang="ko-KR" altLang="en-US" dirty="0" err="1"/>
              <a:t>밑빠진</a:t>
            </a:r>
            <a:r>
              <a:rPr lang="ko-KR" altLang="en-US" dirty="0"/>
              <a:t> 독</a:t>
            </a:r>
            <a:r>
              <a:rPr lang="en-US" altLang="ko-KR" dirty="0"/>
              <a:t>’ </a:t>
            </a:r>
            <a:r>
              <a:rPr lang="ko-KR" altLang="en-US" dirty="0"/>
              <a:t>현상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퍼널</a:t>
            </a:r>
            <a:r>
              <a:rPr lang="ko-KR" altLang="en-US" dirty="0"/>
              <a:t> 분석의 본질</a:t>
            </a:r>
            <a:r>
              <a:rPr lang="en-US" altLang="ko-KR" dirty="0"/>
              <a:t>: </a:t>
            </a:r>
            <a:r>
              <a:rPr lang="ko-KR" altLang="en-US" dirty="0"/>
              <a:t>고객이 브랜드를 인지하고 결제하기까지의 여정</a:t>
            </a:r>
            <a:r>
              <a:rPr lang="en-US" altLang="ko-KR" dirty="0"/>
              <a:t>(Customer Journey)</a:t>
            </a:r>
            <a:r>
              <a:rPr lang="ko-KR" altLang="en-US" dirty="0"/>
              <a:t>을 단계별로 해체하여 </a:t>
            </a:r>
            <a:r>
              <a:rPr lang="en-US" altLang="ko-KR" dirty="0"/>
              <a:t>'</a:t>
            </a:r>
            <a:r>
              <a:rPr lang="ko-KR" altLang="en-US" dirty="0"/>
              <a:t>병목</a:t>
            </a:r>
            <a:r>
              <a:rPr lang="en-US" altLang="ko-KR" dirty="0"/>
              <a:t>(Bottleneck)'</a:t>
            </a:r>
            <a:r>
              <a:rPr lang="ko-KR" altLang="en-US" dirty="0"/>
              <a:t>을 찾는 작업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데이터 분석가의 시야</a:t>
            </a:r>
            <a:r>
              <a:rPr lang="en-US" altLang="ko-KR" dirty="0"/>
              <a:t>: </a:t>
            </a:r>
            <a:r>
              <a:rPr lang="ko-KR" altLang="en-US" dirty="0"/>
              <a:t>단순히 </a:t>
            </a:r>
            <a:r>
              <a:rPr lang="en-US" altLang="ko-KR" dirty="0"/>
              <a:t>'</a:t>
            </a:r>
            <a:r>
              <a:rPr lang="ko-KR" altLang="en-US" dirty="0" err="1"/>
              <a:t>이탈률이</a:t>
            </a:r>
            <a:r>
              <a:rPr lang="ko-KR" altLang="en-US" dirty="0"/>
              <a:t> 높다</a:t>
            </a:r>
            <a:r>
              <a:rPr lang="en-US" altLang="ko-KR" dirty="0"/>
              <a:t>'</a:t>
            </a:r>
            <a:r>
              <a:rPr lang="ko-KR" altLang="en-US" dirty="0"/>
              <a:t>가 아니라</a:t>
            </a:r>
            <a:r>
              <a:rPr lang="en-US" altLang="ko-KR" dirty="0"/>
              <a:t>, '</a:t>
            </a:r>
            <a:r>
              <a:rPr lang="ko-KR" altLang="en-US" dirty="0"/>
              <a:t>어느 페이지의 어떤 버튼에서 고객이 떠나는가</a:t>
            </a:r>
            <a:r>
              <a:rPr lang="en-US" altLang="ko-KR" dirty="0"/>
              <a:t>'</a:t>
            </a:r>
            <a:r>
              <a:rPr lang="ko-KR" altLang="en-US" dirty="0"/>
              <a:t>를 정확히 짚어내야 함</a:t>
            </a:r>
            <a:br>
              <a:rPr lang="en-US" altLang="ko-KR" dirty="0"/>
            </a:br>
            <a:endParaRPr lang="ko-KR" altLang="en-US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재무적 가치</a:t>
            </a:r>
            <a:r>
              <a:rPr lang="en-US" altLang="ko-KR" dirty="0"/>
              <a:t>: </a:t>
            </a:r>
            <a:r>
              <a:rPr lang="ko-KR" altLang="en-US" dirty="0"/>
              <a:t>광고 예산</a:t>
            </a:r>
            <a:r>
              <a:rPr lang="en-US" altLang="ko-KR" dirty="0"/>
              <a:t>(Acquisition)</a:t>
            </a:r>
            <a:r>
              <a:rPr lang="ko-KR" altLang="en-US" dirty="0"/>
              <a:t>을 늘리기 전</a:t>
            </a:r>
            <a:r>
              <a:rPr lang="en-US" altLang="ko-KR" dirty="0"/>
              <a:t>, </a:t>
            </a:r>
            <a:r>
              <a:rPr lang="ko-KR" altLang="en-US" dirty="0"/>
              <a:t>내부 </a:t>
            </a:r>
            <a:r>
              <a:rPr lang="ko-KR" altLang="en-US" dirty="0" err="1"/>
              <a:t>전환율</a:t>
            </a:r>
            <a:r>
              <a:rPr lang="en-US" altLang="ko-KR" dirty="0"/>
              <a:t>(CVR) 1%</a:t>
            </a:r>
            <a:r>
              <a:rPr lang="ko-KR" altLang="en-US" dirty="0"/>
              <a:t>를 개선하는 것이 훨씬 압도적인 영업이익을 가져옴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마케터는 왜 </a:t>
            </a:r>
            <a:r>
              <a:rPr lang="ko-KR" altLang="en-US" sz="2300" dirty="0" err="1"/>
              <a:t>퍼널</a:t>
            </a:r>
            <a:r>
              <a:rPr lang="en-US" altLang="ko-KR" sz="2300" dirty="0"/>
              <a:t>(Funnel)</a:t>
            </a:r>
            <a:r>
              <a:rPr lang="ko-KR" altLang="en-US" sz="2300" dirty="0"/>
              <a:t>을 그리는가</a:t>
            </a:r>
            <a:r>
              <a:rPr lang="en-US" altLang="ko-KR" sz="23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6061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마찰</a:t>
            </a:r>
            <a:r>
              <a:rPr lang="en-US" altLang="ko-KR" dirty="0"/>
              <a:t>(Friction)</a:t>
            </a:r>
            <a:r>
              <a:rPr lang="ko-KR" altLang="en-US" dirty="0"/>
              <a:t>의 정의</a:t>
            </a:r>
            <a:r>
              <a:rPr lang="en-US" altLang="ko-KR" dirty="0"/>
              <a:t>: </a:t>
            </a:r>
            <a:r>
              <a:rPr lang="ko-KR" altLang="en-US" dirty="0"/>
              <a:t>고객이 다음 단계로 넘어가는 것을 방해하는 모든 심리적</a:t>
            </a:r>
            <a:r>
              <a:rPr lang="en-US" altLang="ko-KR" dirty="0"/>
              <a:t>, </a:t>
            </a:r>
            <a:r>
              <a:rPr lang="ko-KR" altLang="en-US" dirty="0"/>
              <a:t>물리적 장애물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물리적 마찰</a:t>
            </a:r>
            <a:r>
              <a:rPr lang="en-US" altLang="ko-KR" dirty="0"/>
              <a:t>: 3</a:t>
            </a:r>
            <a:r>
              <a:rPr lang="ko-KR" altLang="en-US" dirty="0"/>
              <a:t>초 이상 걸리는 페이지 로딩</a:t>
            </a:r>
            <a:r>
              <a:rPr lang="en-US" altLang="ko-KR" dirty="0"/>
              <a:t>, </a:t>
            </a:r>
            <a:r>
              <a:rPr lang="ko-KR" altLang="en-US" dirty="0"/>
              <a:t>모바일에서 클릭하기 힘든 작은 버튼</a:t>
            </a:r>
            <a:r>
              <a:rPr lang="en-US" altLang="ko-KR" dirty="0"/>
              <a:t>, 5</a:t>
            </a:r>
            <a:r>
              <a:rPr lang="ko-KR" altLang="en-US" dirty="0"/>
              <a:t>단계를 거쳐야 하는 복잡한 회원가입 폼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심리적 마찰</a:t>
            </a:r>
            <a:r>
              <a:rPr lang="en-US" altLang="ko-KR" dirty="0"/>
              <a:t>: '</a:t>
            </a:r>
            <a:r>
              <a:rPr lang="ko-KR" altLang="en-US" dirty="0"/>
              <a:t>이 사이트 믿을 </a:t>
            </a:r>
            <a:r>
              <a:rPr lang="ko-KR" altLang="en-US" dirty="0" err="1"/>
              <a:t>만한가</a:t>
            </a:r>
            <a:r>
              <a:rPr lang="en-US" altLang="ko-KR" dirty="0"/>
              <a:t>?' (</a:t>
            </a:r>
            <a:r>
              <a:rPr lang="ko-KR" altLang="en-US" dirty="0"/>
              <a:t>신뢰 부족</a:t>
            </a:r>
            <a:r>
              <a:rPr lang="en-US" altLang="ko-KR" dirty="0"/>
              <a:t>), '</a:t>
            </a:r>
            <a:r>
              <a:rPr lang="ko-KR" altLang="en-US" dirty="0"/>
              <a:t>나중에 사도 되지 않을까</a:t>
            </a:r>
            <a:r>
              <a:rPr lang="en-US" altLang="ko-KR" dirty="0"/>
              <a:t>?' (</a:t>
            </a:r>
            <a:r>
              <a:rPr lang="ko-KR" altLang="en-US" dirty="0" err="1"/>
              <a:t>긴급성</a:t>
            </a:r>
            <a:r>
              <a:rPr lang="ko-KR" altLang="en-US" dirty="0"/>
              <a:t> 부족</a:t>
            </a:r>
            <a:r>
              <a:rPr lang="en-US" altLang="ko-KR" dirty="0"/>
              <a:t>), </a:t>
            </a:r>
            <a:r>
              <a:rPr lang="ko-KR" altLang="en-US" dirty="0"/>
              <a:t>숨겨져 있던 배송비의 등장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최적화</a:t>
            </a:r>
            <a:r>
              <a:rPr lang="en-US" altLang="ko-KR" dirty="0"/>
              <a:t>(Optimization): </a:t>
            </a:r>
            <a:r>
              <a:rPr lang="ko-KR" altLang="en-US" dirty="0"/>
              <a:t>이 마찰들을 데이터로 찾아내고 </a:t>
            </a:r>
            <a:r>
              <a:rPr lang="en-US" altLang="ko-KR" dirty="0"/>
              <a:t>A/B </a:t>
            </a:r>
            <a:r>
              <a:rPr lang="ko-KR" altLang="en-US" dirty="0"/>
              <a:t>테스트로 부수어 나가는 끝없는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고객 여정의 마찰</a:t>
            </a:r>
            <a:r>
              <a:rPr lang="en-US" altLang="ko-KR" sz="2300" dirty="0"/>
              <a:t>(Friction) </a:t>
            </a:r>
            <a:r>
              <a:rPr lang="ko-KR" altLang="en-US" sz="2300" dirty="0"/>
              <a:t>제거</a:t>
            </a:r>
          </a:p>
        </p:txBody>
      </p:sp>
    </p:spTree>
    <p:extLst>
      <p:ext uri="{BB962C8B-B14F-4D97-AF65-F5344CB8AC3E}">
        <p14:creationId xmlns:p14="http://schemas.microsoft.com/office/powerpoint/2010/main" val="403624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1898</a:t>
            </a:r>
            <a:r>
              <a:rPr lang="ko-KR" altLang="en-US" dirty="0"/>
              <a:t>년 등장 이래 매스미디어와 소비재</a:t>
            </a:r>
            <a:r>
              <a:rPr lang="en-US" altLang="ko-KR" dirty="0"/>
              <a:t>(B2C) </a:t>
            </a:r>
            <a:r>
              <a:rPr lang="ko-KR" altLang="en-US" dirty="0"/>
              <a:t>시장을 지배한 전통적 심리 변화 프레임워크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선형적 구조</a:t>
            </a:r>
            <a:r>
              <a:rPr lang="en-US" altLang="ko-KR" dirty="0"/>
              <a:t>: Attention(</a:t>
            </a:r>
            <a:r>
              <a:rPr lang="ko-KR" altLang="en-US" dirty="0"/>
              <a:t>인지</a:t>
            </a:r>
            <a:r>
              <a:rPr lang="en-US" altLang="ko-KR" dirty="0"/>
              <a:t>) ➔ Interest(</a:t>
            </a:r>
            <a:r>
              <a:rPr lang="ko-KR" altLang="en-US" dirty="0"/>
              <a:t>흥미</a:t>
            </a:r>
            <a:r>
              <a:rPr lang="en-US" altLang="ko-KR" dirty="0"/>
              <a:t>) ➔ Desire(</a:t>
            </a:r>
            <a:r>
              <a:rPr lang="ko-KR" altLang="en-US" dirty="0"/>
              <a:t>욕망</a:t>
            </a:r>
            <a:r>
              <a:rPr lang="en-US" altLang="ko-KR" dirty="0"/>
              <a:t>) ➔ Action(</a:t>
            </a:r>
            <a:r>
              <a:rPr lang="ko-KR" altLang="en-US" dirty="0"/>
              <a:t>행동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디지털 시대의 변화</a:t>
            </a:r>
            <a:r>
              <a:rPr lang="en-US" altLang="ko-KR" dirty="0"/>
              <a:t>: </a:t>
            </a:r>
            <a:r>
              <a:rPr lang="ko-KR" altLang="en-US" dirty="0"/>
              <a:t>과거에는 </a:t>
            </a:r>
            <a:r>
              <a:rPr lang="en-US" altLang="ko-KR" dirty="0"/>
              <a:t>TV </a:t>
            </a:r>
            <a:r>
              <a:rPr lang="ko-KR" altLang="en-US" dirty="0"/>
              <a:t>광고가 </a:t>
            </a:r>
            <a:r>
              <a:rPr lang="en-US" altLang="ko-KR" dirty="0"/>
              <a:t>A, I, D</a:t>
            </a:r>
            <a:r>
              <a:rPr lang="ko-KR" altLang="en-US" dirty="0"/>
              <a:t>를 모두 담당했다면</a:t>
            </a:r>
            <a:r>
              <a:rPr lang="en-US" altLang="ko-KR" dirty="0"/>
              <a:t>, </a:t>
            </a:r>
            <a:r>
              <a:rPr lang="ko-KR" altLang="en-US" dirty="0"/>
              <a:t>현재는 단계별로 노출되는 매체</a:t>
            </a:r>
            <a:r>
              <a:rPr lang="en-US" altLang="ko-KR" dirty="0"/>
              <a:t>(</a:t>
            </a:r>
            <a:r>
              <a:rPr lang="ko-KR" altLang="en-US" dirty="0"/>
              <a:t>인스타</a:t>
            </a:r>
            <a:r>
              <a:rPr lang="en-US" altLang="ko-KR" dirty="0"/>
              <a:t>,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/>
              <a:t>검색엔진</a:t>
            </a:r>
            <a:r>
              <a:rPr lang="en-US" altLang="ko-KR" dirty="0"/>
              <a:t>)</a:t>
            </a:r>
            <a:r>
              <a:rPr lang="ko-KR" altLang="en-US" dirty="0"/>
              <a:t>가 극도로 파편화됨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이론의 한계점</a:t>
            </a:r>
            <a:r>
              <a:rPr lang="en-US" altLang="ko-KR" dirty="0"/>
              <a:t>: '</a:t>
            </a:r>
            <a:r>
              <a:rPr lang="ko-KR" altLang="en-US" dirty="0"/>
              <a:t>구매 완료</a:t>
            </a:r>
            <a:r>
              <a:rPr lang="en-US" altLang="ko-KR" dirty="0"/>
              <a:t>(Action)' </a:t>
            </a:r>
            <a:r>
              <a:rPr lang="ko-KR" altLang="en-US" dirty="0"/>
              <a:t>이후 고객이 자발적으로 리뷰를 남기거나 지인에게 추천하는 현대의 </a:t>
            </a:r>
            <a:r>
              <a:rPr lang="en-US" altLang="ko-KR" dirty="0"/>
              <a:t>'</a:t>
            </a:r>
            <a:r>
              <a:rPr lang="ko-KR" altLang="en-US" dirty="0"/>
              <a:t>바이럴 루프</a:t>
            </a:r>
            <a:r>
              <a:rPr lang="en-US" altLang="ko-KR" dirty="0"/>
              <a:t>(Viral Loop)'</a:t>
            </a:r>
            <a:r>
              <a:rPr lang="ko-KR" altLang="en-US" dirty="0"/>
              <a:t>를 설명하지 못함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AIDA </a:t>
            </a:r>
            <a:r>
              <a:rPr lang="ko-KR" altLang="en-US" sz="2300" dirty="0"/>
              <a:t>모델</a:t>
            </a:r>
            <a:r>
              <a:rPr lang="en-US" altLang="ko-KR" sz="2300" dirty="0"/>
              <a:t>: </a:t>
            </a:r>
            <a:r>
              <a:rPr lang="ko-KR" altLang="en-US" sz="2300" dirty="0"/>
              <a:t>소비재 마케팅의 뼈대</a:t>
            </a:r>
          </a:p>
        </p:txBody>
      </p:sp>
    </p:spTree>
    <p:extLst>
      <p:ext uri="{BB962C8B-B14F-4D97-AF65-F5344CB8AC3E}">
        <p14:creationId xmlns:p14="http://schemas.microsoft.com/office/powerpoint/2010/main" val="417804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[Attention] </a:t>
            </a:r>
            <a:r>
              <a:rPr lang="ko-KR" altLang="en-US" dirty="0"/>
              <a:t>인지 단계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 심리</a:t>
            </a:r>
            <a:r>
              <a:rPr lang="en-US" altLang="ko-KR" dirty="0"/>
              <a:t>: '</a:t>
            </a:r>
            <a:r>
              <a:rPr lang="ko-KR" altLang="en-US" dirty="0"/>
              <a:t>잠깐</a:t>
            </a:r>
            <a:r>
              <a:rPr lang="en-US" altLang="ko-KR" dirty="0"/>
              <a:t>, </a:t>
            </a:r>
            <a:r>
              <a:rPr lang="ko-KR" altLang="en-US" dirty="0"/>
              <a:t>저게 </a:t>
            </a:r>
            <a:r>
              <a:rPr lang="ko-KR" altLang="en-US" dirty="0" err="1"/>
              <a:t>뭐지</a:t>
            </a:r>
            <a:r>
              <a:rPr lang="en-US" altLang="ko-KR" dirty="0"/>
              <a:t>?' (</a:t>
            </a:r>
            <a:r>
              <a:rPr lang="ko-KR" altLang="en-US" dirty="0"/>
              <a:t>무의식적 스크롤 중 시선 강탈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핵심 매체</a:t>
            </a:r>
            <a:r>
              <a:rPr lang="en-US" altLang="ko-KR" dirty="0"/>
              <a:t>: </a:t>
            </a:r>
            <a:r>
              <a:rPr lang="ko-KR" altLang="en-US" dirty="0"/>
              <a:t>인스타그램 </a:t>
            </a:r>
            <a:r>
              <a:rPr lang="ko-KR" altLang="en-US" dirty="0" err="1"/>
              <a:t>스폰서드</a:t>
            </a:r>
            <a:r>
              <a:rPr lang="ko-KR" altLang="en-US" dirty="0"/>
              <a:t> 배너</a:t>
            </a:r>
            <a:r>
              <a:rPr lang="en-US" altLang="ko-KR" dirty="0"/>
              <a:t>, </a:t>
            </a:r>
            <a:r>
              <a:rPr lang="ko-KR" altLang="en-US" dirty="0"/>
              <a:t>유튜브 </a:t>
            </a:r>
            <a:r>
              <a:rPr lang="en-US" altLang="ko-KR" dirty="0"/>
              <a:t>5</a:t>
            </a:r>
            <a:r>
              <a:rPr lang="ko-KR" altLang="en-US" dirty="0"/>
              <a:t>초 범퍼 광고</a:t>
            </a:r>
            <a:r>
              <a:rPr lang="en-US" altLang="ko-KR" dirty="0"/>
              <a:t>, </a:t>
            </a:r>
            <a:r>
              <a:rPr lang="ko-KR" altLang="en-US" dirty="0"/>
              <a:t>옥외 빌보드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데이터 지표</a:t>
            </a:r>
            <a:r>
              <a:rPr lang="en-US" altLang="ko-KR" dirty="0"/>
              <a:t>: </a:t>
            </a:r>
            <a:r>
              <a:rPr lang="ko-KR" altLang="en-US" dirty="0" err="1"/>
              <a:t>노출수</a:t>
            </a:r>
            <a:r>
              <a:rPr lang="en-US" altLang="ko-KR" dirty="0"/>
              <a:t>(Impression), </a:t>
            </a:r>
            <a:r>
              <a:rPr lang="ko-KR" altLang="en-US" dirty="0" err="1"/>
              <a:t>도달률</a:t>
            </a:r>
            <a:r>
              <a:rPr lang="en-US" altLang="ko-KR" dirty="0"/>
              <a:t>(Reach), CTR(</a:t>
            </a:r>
            <a:r>
              <a:rPr lang="ko-KR" altLang="en-US" dirty="0" err="1"/>
              <a:t>클릭률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[Interest] </a:t>
            </a:r>
            <a:r>
              <a:rPr lang="ko-KR" altLang="en-US" dirty="0"/>
              <a:t>흥미 단계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 심리</a:t>
            </a:r>
            <a:r>
              <a:rPr lang="en-US" altLang="ko-KR" dirty="0"/>
              <a:t>: '</a:t>
            </a:r>
            <a:r>
              <a:rPr lang="ko-KR" altLang="en-US" dirty="0"/>
              <a:t>오</a:t>
            </a:r>
            <a:r>
              <a:rPr lang="en-US" altLang="ko-KR" dirty="0"/>
              <a:t>, </a:t>
            </a:r>
            <a:r>
              <a:rPr lang="ko-KR" altLang="en-US" dirty="0"/>
              <a:t>예쁜데</a:t>
            </a:r>
            <a:r>
              <a:rPr lang="en-US" altLang="ko-KR" dirty="0"/>
              <a:t>? </a:t>
            </a:r>
            <a:r>
              <a:rPr lang="ko-KR" altLang="en-US" dirty="0" err="1"/>
              <a:t>나한테</a:t>
            </a:r>
            <a:r>
              <a:rPr lang="ko-KR" altLang="en-US" dirty="0"/>
              <a:t> 필요한 기능이 있나</a:t>
            </a:r>
            <a:r>
              <a:rPr lang="en-US" altLang="ko-KR" dirty="0"/>
              <a:t>?' (</a:t>
            </a:r>
            <a:r>
              <a:rPr lang="ko-KR" altLang="en-US" dirty="0"/>
              <a:t>의도적 탐색 시작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핵심 콘텐츠</a:t>
            </a:r>
            <a:r>
              <a:rPr lang="en-US" altLang="ko-KR" dirty="0"/>
              <a:t>: </a:t>
            </a:r>
            <a:r>
              <a:rPr lang="ko-KR" altLang="en-US" dirty="0"/>
              <a:t>상세 페이지의 직관적 카피</a:t>
            </a:r>
            <a:r>
              <a:rPr lang="en-US" altLang="ko-KR" dirty="0"/>
              <a:t>, </a:t>
            </a:r>
            <a:r>
              <a:rPr lang="ko-KR" altLang="en-US" dirty="0"/>
              <a:t>블로거들의 </a:t>
            </a:r>
            <a:r>
              <a:rPr lang="ko-KR" altLang="en-US" dirty="0" err="1"/>
              <a:t>내돈내산</a:t>
            </a:r>
            <a:r>
              <a:rPr lang="ko-KR" altLang="en-US" dirty="0"/>
              <a:t> 리뷰</a:t>
            </a:r>
            <a:r>
              <a:rPr lang="en-US" altLang="ko-KR" dirty="0"/>
              <a:t>, </a:t>
            </a:r>
            <a:r>
              <a:rPr lang="ko-KR" altLang="en-US" dirty="0"/>
              <a:t>제품 스펙 비교표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데이터 지표</a:t>
            </a:r>
            <a:r>
              <a:rPr lang="en-US" altLang="ko-KR" dirty="0"/>
              <a:t>: </a:t>
            </a:r>
            <a:r>
              <a:rPr lang="ko-KR" altLang="en-US" dirty="0"/>
              <a:t>페이지 체류시간</a:t>
            </a:r>
            <a:r>
              <a:rPr lang="en-US" altLang="ko-KR" dirty="0"/>
              <a:t>(Time on page), </a:t>
            </a:r>
            <a:r>
              <a:rPr lang="ko-KR" altLang="en-US" dirty="0" err="1"/>
              <a:t>이탈률</a:t>
            </a:r>
            <a:r>
              <a:rPr lang="en-US" altLang="ko-KR" dirty="0"/>
              <a:t>(Bounce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AIDA </a:t>
            </a:r>
            <a:r>
              <a:rPr lang="ko-KR" altLang="en-US" sz="2300" dirty="0"/>
              <a:t>심층 분석</a:t>
            </a:r>
            <a:r>
              <a:rPr lang="en-US" altLang="ko-KR" sz="2300" dirty="0"/>
              <a:t>: [A] </a:t>
            </a:r>
            <a:r>
              <a:rPr lang="ko-KR" altLang="en-US" sz="2300" dirty="0"/>
              <a:t>인지와 </a:t>
            </a:r>
            <a:r>
              <a:rPr lang="en-US" altLang="ko-KR" sz="2300" dirty="0"/>
              <a:t>[I] </a:t>
            </a:r>
            <a:r>
              <a:rPr lang="ko-KR" altLang="en-US" sz="2300" dirty="0"/>
              <a:t>흥미</a:t>
            </a:r>
          </a:p>
        </p:txBody>
      </p:sp>
    </p:spTree>
    <p:extLst>
      <p:ext uri="{BB962C8B-B14F-4D97-AF65-F5344CB8AC3E}">
        <p14:creationId xmlns:p14="http://schemas.microsoft.com/office/powerpoint/2010/main" val="333114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[Desire] </a:t>
            </a:r>
            <a:r>
              <a:rPr lang="ko-KR" altLang="en-US" dirty="0"/>
              <a:t>욕망 단계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 심리</a:t>
            </a:r>
            <a:r>
              <a:rPr lang="en-US" altLang="ko-KR" dirty="0"/>
              <a:t>: '</a:t>
            </a:r>
            <a:r>
              <a:rPr lang="ko-KR" altLang="en-US" dirty="0"/>
              <a:t>이건 당장 사야 해</a:t>
            </a:r>
            <a:r>
              <a:rPr lang="en-US" altLang="ko-KR" dirty="0"/>
              <a:t>. </a:t>
            </a:r>
            <a:r>
              <a:rPr lang="ko-KR" altLang="en-US" dirty="0"/>
              <a:t>안 사면 손해다</a:t>
            </a:r>
            <a:r>
              <a:rPr lang="en-US" altLang="ko-KR" dirty="0"/>
              <a:t>!' (</a:t>
            </a:r>
            <a:r>
              <a:rPr lang="ko-KR" altLang="en-US" dirty="0"/>
              <a:t>소유욕과 </a:t>
            </a:r>
            <a:r>
              <a:rPr lang="en-US" altLang="ko-KR" dirty="0"/>
              <a:t>FOMO </a:t>
            </a:r>
            <a:r>
              <a:rPr lang="ko-KR" altLang="en-US" dirty="0"/>
              <a:t>극대화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전환 트리거</a:t>
            </a:r>
            <a:r>
              <a:rPr lang="en-US" altLang="ko-KR" dirty="0"/>
              <a:t>: </a:t>
            </a:r>
            <a:r>
              <a:rPr lang="ko-KR" altLang="en-US" dirty="0"/>
              <a:t>실사용자의 압도적 </a:t>
            </a:r>
            <a:r>
              <a:rPr lang="ko-KR" altLang="en-US" dirty="0" err="1"/>
              <a:t>비포</a:t>
            </a:r>
            <a:r>
              <a:rPr lang="en-US" altLang="ko-KR" dirty="0"/>
              <a:t>/</a:t>
            </a:r>
            <a:r>
              <a:rPr lang="ko-KR" altLang="en-US" dirty="0"/>
              <a:t>애프터 리뷰</a:t>
            </a:r>
            <a:r>
              <a:rPr lang="en-US" altLang="ko-KR" dirty="0"/>
              <a:t>, '</a:t>
            </a:r>
            <a:r>
              <a:rPr lang="ko-KR" altLang="en-US" dirty="0"/>
              <a:t>오늘 자정 마감</a:t>
            </a:r>
            <a:r>
              <a:rPr lang="en-US" altLang="ko-KR" dirty="0"/>
              <a:t>' </a:t>
            </a:r>
            <a:r>
              <a:rPr lang="ko-KR" altLang="en-US" dirty="0"/>
              <a:t>타이머</a:t>
            </a:r>
            <a:r>
              <a:rPr lang="en-US" altLang="ko-KR" dirty="0"/>
              <a:t>, </a:t>
            </a:r>
            <a:r>
              <a:rPr lang="ko-KR" altLang="en-US" dirty="0"/>
              <a:t>한정 수량 알림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데이터 지표</a:t>
            </a:r>
            <a:r>
              <a:rPr lang="en-US" altLang="ko-KR" dirty="0"/>
              <a:t>: </a:t>
            </a:r>
            <a:r>
              <a:rPr lang="ko-KR" altLang="en-US" dirty="0"/>
              <a:t>장바구니 담기 비율</a:t>
            </a:r>
            <a:r>
              <a:rPr lang="en-US" altLang="ko-KR" dirty="0"/>
              <a:t>, </a:t>
            </a:r>
            <a:r>
              <a:rPr lang="ko-KR" altLang="en-US" dirty="0"/>
              <a:t>위시리스트 추가 횟수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[Action] </a:t>
            </a:r>
            <a:r>
              <a:rPr lang="ko-KR" altLang="en-US" dirty="0"/>
              <a:t>행동 단계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 심리</a:t>
            </a:r>
            <a:r>
              <a:rPr lang="en-US" altLang="ko-KR" dirty="0"/>
              <a:t>: '</a:t>
            </a:r>
            <a:r>
              <a:rPr lang="ko-KR" altLang="en-US" dirty="0"/>
              <a:t>결제하기</a:t>
            </a:r>
            <a:r>
              <a:rPr lang="en-US" altLang="ko-KR" dirty="0"/>
              <a:t>' (</a:t>
            </a:r>
            <a:r>
              <a:rPr lang="ko-KR" altLang="en-US" dirty="0"/>
              <a:t>가장 높은 심리적</a:t>
            </a:r>
            <a:r>
              <a:rPr lang="en-US" altLang="ko-KR" dirty="0"/>
              <a:t>/</a:t>
            </a:r>
            <a:r>
              <a:rPr lang="ko-KR" altLang="en-US" dirty="0"/>
              <a:t>물리적 허들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전환 트리거</a:t>
            </a:r>
            <a:r>
              <a:rPr lang="en-US" altLang="ko-KR" dirty="0"/>
              <a:t>: </a:t>
            </a:r>
            <a:r>
              <a:rPr lang="ko-KR" altLang="en-US" dirty="0"/>
              <a:t>간편 결제</a:t>
            </a:r>
            <a:r>
              <a:rPr lang="en-US" altLang="ko-KR" dirty="0"/>
              <a:t>(</a:t>
            </a:r>
            <a:r>
              <a:rPr lang="ko-KR" altLang="en-US" dirty="0"/>
              <a:t>네이버페이</a:t>
            </a:r>
            <a:r>
              <a:rPr lang="en-US" altLang="ko-KR" dirty="0"/>
              <a:t>/</a:t>
            </a:r>
            <a:r>
              <a:rPr lang="ko-KR" altLang="en-US" dirty="0"/>
              <a:t>카카오페이</a:t>
            </a:r>
            <a:r>
              <a:rPr lang="en-US" altLang="ko-KR" dirty="0"/>
              <a:t>), </a:t>
            </a:r>
            <a:r>
              <a:rPr lang="ko-KR" altLang="en-US" dirty="0"/>
              <a:t>첫 구매 </a:t>
            </a:r>
            <a:r>
              <a:rPr lang="en-US" altLang="ko-KR" dirty="0"/>
              <a:t>990</a:t>
            </a:r>
            <a:r>
              <a:rPr lang="ko-KR" altLang="en-US" dirty="0"/>
              <a:t>원 혜택</a:t>
            </a:r>
            <a:r>
              <a:rPr lang="en-US" altLang="ko-KR" dirty="0"/>
              <a:t>, </a:t>
            </a:r>
            <a:r>
              <a:rPr lang="ko-KR" altLang="en-US" dirty="0"/>
              <a:t>배송비 무료 쿠폰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데이터 지표</a:t>
            </a:r>
            <a:r>
              <a:rPr lang="en-US" altLang="ko-KR" dirty="0"/>
              <a:t>: </a:t>
            </a:r>
            <a:r>
              <a:rPr lang="ko-KR" altLang="en-US" dirty="0"/>
              <a:t>장바구니 결제 </a:t>
            </a:r>
            <a:r>
              <a:rPr lang="ko-KR" altLang="en-US" dirty="0" err="1"/>
              <a:t>전환율</a:t>
            </a:r>
            <a:r>
              <a:rPr lang="en-US" altLang="ko-KR" dirty="0"/>
              <a:t>, </a:t>
            </a:r>
            <a:r>
              <a:rPr lang="ko-KR" altLang="en-US" dirty="0"/>
              <a:t>최종 결제 </a:t>
            </a:r>
            <a:r>
              <a:rPr lang="ko-KR" altLang="en-US" dirty="0" err="1"/>
              <a:t>이탈률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AIDA </a:t>
            </a:r>
            <a:r>
              <a:rPr lang="ko-KR" altLang="en-US" sz="2300" dirty="0"/>
              <a:t>심층 분석</a:t>
            </a:r>
            <a:r>
              <a:rPr lang="en-US" altLang="ko-KR" sz="2300" dirty="0"/>
              <a:t>: [D] </a:t>
            </a:r>
            <a:r>
              <a:rPr lang="ko-KR" altLang="en-US" sz="2300" dirty="0"/>
              <a:t>욕망과 </a:t>
            </a:r>
            <a:r>
              <a:rPr lang="en-US" altLang="ko-KR" sz="2300" dirty="0"/>
              <a:t>[A] </a:t>
            </a:r>
            <a:r>
              <a:rPr lang="ko-KR" altLang="en-US" sz="2300" dirty="0"/>
              <a:t>행동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750650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사례 </a:t>
            </a:r>
            <a:r>
              <a:rPr lang="en-US" altLang="ko-KR" dirty="0"/>
              <a:t>1: </a:t>
            </a:r>
            <a:r>
              <a:rPr lang="ko-KR" altLang="en-US" dirty="0"/>
              <a:t>다이슨 </a:t>
            </a:r>
            <a:r>
              <a:rPr lang="ko-KR" altLang="en-US" dirty="0" err="1"/>
              <a:t>에어랩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뷰티</a:t>
            </a:r>
            <a:r>
              <a:rPr lang="en-US" altLang="ko-KR" dirty="0"/>
              <a:t>/</a:t>
            </a:r>
            <a:r>
              <a:rPr lang="ko-KR" altLang="en-US" dirty="0"/>
              <a:t>가전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A: </a:t>
            </a:r>
            <a:r>
              <a:rPr lang="ko-KR" altLang="en-US" dirty="0"/>
              <a:t>출근 준비를 </a:t>
            </a:r>
            <a:r>
              <a:rPr lang="en-US" altLang="ko-KR" dirty="0"/>
              <a:t>5</a:t>
            </a:r>
            <a:r>
              <a:rPr lang="ko-KR" altLang="en-US" dirty="0"/>
              <a:t>분 만에 끝내는 화려한 인스타 </a:t>
            </a:r>
            <a:r>
              <a:rPr lang="ko-KR" altLang="en-US" dirty="0" err="1"/>
              <a:t>릴스</a:t>
            </a:r>
            <a:r>
              <a:rPr lang="ko-KR" altLang="en-US" dirty="0"/>
              <a:t> 노출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I: </a:t>
            </a:r>
            <a:r>
              <a:rPr lang="ko-KR" altLang="en-US" dirty="0"/>
              <a:t>뷰티 </a:t>
            </a:r>
            <a:r>
              <a:rPr lang="ko-KR" altLang="en-US" dirty="0" err="1"/>
              <a:t>유튜버들의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 err="1"/>
              <a:t>똥손도</a:t>
            </a:r>
            <a:r>
              <a:rPr lang="ko-KR" altLang="en-US" dirty="0"/>
              <a:t> 가능한 스타일링</a:t>
            </a:r>
            <a:r>
              <a:rPr lang="en-US" altLang="ko-KR" dirty="0"/>
              <a:t>' </a:t>
            </a:r>
            <a:r>
              <a:rPr lang="ko-KR" altLang="en-US" dirty="0"/>
              <a:t>튜토리얼 정독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D: </a:t>
            </a:r>
            <a:r>
              <a:rPr lang="ko-KR" altLang="en-US" dirty="0"/>
              <a:t>매일 미용실 가는 비용을 아낀다는 논리적 합리화와 소유욕 폭발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A: </a:t>
            </a:r>
            <a:r>
              <a:rPr lang="ko-KR" altLang="en-US" dirty="0" err="1"/>
              <a:t>공홈에서</a:t>
            </a:r>
            <a:r>
              <a:rPr lang="ko-KR" altLang="en-US" dirty="0"/>
              <a:t> 카드 무이자 할부로 최종 결제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사례 </a:t>
            </a:r>
            <a:r>
              <a:rPr lang="en-US" altLang="ko-KR" dirty="0"/>
              <a:t>2: </a:t>
            </a:r>
            <a:r>
              <a:rPr lang="ko-KR" altLang="en-US" dirty="0" err="1"/>
              <a:t>넷플릭스</a:t>
            </a:r>
            <a:r>
              <a:rPr lang="ko-KR" altLang="en-US" dirty="0"/>
              <a:t> 오리지널 시리즈 개봉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A: </a:t>
            </a:r>
            <a:r>
              <a:rPr lang="ko-KR" altLang="en-US" dirty="0"/>
              <a:t>유튜브 조회수 </a:t>
            </a:r>
            <a:r>
              <a:rPr lang="en-US" altLang="ko-KR" dirty="0"/>
              <a:t>500</a:t>
            </a:r>
            <a:r>
              <a:rPr lang="ko-KR" altLang="en-US" dirty="0"/>
              <a:t>만 티저 예고편 노출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I: </a:t>
            </a:r>
            <a:r>
              <a:rPr lang="ko-KR" altLang="en-US" dirty="0" err="1"/>
              <a:t>유튜버들의</a:t>
            </a:r>
            <a:r>
              <a:rPr lang="ko-KR" altLang="en-US" dirty="0"/>
              <a:t> 숨겨진 떡밥 </a:t>
            </a:r>
            <a:r>
              <a:rPr lang="en-US" altLang="ko-KR" dirty="0"/>
              <a:t>10</a:t>
            </a:r>
            <a:r>
              <a:rPr lang="ko-KR" altLang="en-US" dirty="0"/>
              <a:t>가지 분석 영상 시청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D: </a:t>
            </a:r>
            <a:r>
              <a:rPr lang="ko-KR" altLang="en-US" dirty="0"/>
              <a:t>월요일 출근 시 동료들의 대화에 끼지 못할 것 같은 소외감</a:t>
            </a:r>
            <a:r>
              <a:rPr lang="en-US" altLang="ko-KR" dirty="0"/>
              <a:t>(FOMO) </a:t>
            </a:r>
            <a:r>
              <a:rPr lang="ko-KR" altLang="en-US" dirty="0"/>
              <a:t>발생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A: </a:t>
            </a:r>
            <a:r>
              <a:rPr lang="ko-KR" altLang="en-US" dirty="0"/>
              <a:t>일요일 밤 </a:t>
            </a:r>
            <a:r>
              <a:rPr lang="ko-KR" altLang="en-US" dirty="0" err="1"/>
              <a:t>넷플릭스</a:t>
            </a:r>
            <a:r>
              <a:rPr lang="ko-KR" altLang="en-US" dirty="0"/>
              <a:t> 앱 실행 및 정주행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AIDA </a:t>
            </a:r>
            <a:r>
              <a:rPr lang="ko-KR" altLang="en-US" sz="2300" dirty="0"/>
              <a:t>실무 사례 해부</a:t>
            </a:r>
          </a:p>
        </p:txBody>
      </p:sp>
    </p:spTree>
    <p:extLst>
      <p:ext uri="{BB962C8B-B14F-4D97-AF65-F5344CB8AC3E}">
        <p14:creationId xmlns:p14="http://schemas.microsoft.com/office/powerpoint/2010/main" val="4039413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배경</a:t>
            </a:r>
            <a:r>
              <a:rPr lang="en-US" altLang="ko-KR" dirty="0"/>
              <a:t>: B2B </a:t>
            </a:r>
            <a:r>
              <a:rPr lang="ko-KR" altLang="en-US" dirty="0"/>
              <a:t>소프트웨어</a:t>
            </a:r>
            <a:r>
              <a:rPr lang="en-US" altLang="ko-KR" dirty="0"/>
              <a:t>(SaaS)</a:t>
            </a:r>
            <a:r>
              <a:rPr lang="ko-KR" altLang="en-US" dirty="0"/>
              <a:t>나 고가의 컨설팅은 충동구매</a:t>
            </a:r>
            <a:r>
              <a:rPr lang="en-US" altLang="ko-KR" dirty="0"/>
              <a:t>(AIDA)</a:t>
            </a:r>
            <a:r>
              <a:rPr lang="ko-KR" altLang="en-US" dirty="0"/>
              <a:t>가 불가능함</a:t>
            </a:r>
            <a:r>
              <a:rPr lang="en-US" altLang="ko-KR" dirty="0"/>
              <a:t>. </a:t>
            </a:r>
            <a:r>
              <a:rPr lang="ko-KR" altLang="en-US" dirty="0"/>
              <a:t>철저히 고객의 </a:t>
            </a:r>
            <a:r>
              <a:rPr lang="en-US" altLang="ko-KR" dirty="0"/>
              <a:t>'</a:t>
            </a:r>
            <a:r>
              <a:rPr lang="ko-KR" altLang="en-US" dirty="0"/>
              <a:t>정보 탐색 의도</a:t>
            </a:r>
            <a:r>
              <a:rPr lang="en-US" altLang="ko-KR" dirty="0"/>
              <a:t>(Intent)'</a:t>
            </a:r>
            <a:r>
              <a:rPr lang="ko-KR" altLang="en-US" dirty="0"/>
              <a:t>에 맞춰 콘텐츠를 세분화해야 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TOFU (Top): </a:t>
            </a:r>
            <a:r>
              <a:rPr lang="ko-KR" altLang="en-US" dirty="0"/>
              <a:t>문제 인식기</a:t>
            </a:r>
            <a:r>
              <a:rPr lang="en-US" altLang="ko-KR" dirty="0"/>
              <a:t>. </a:t>
            </a:r>
            <a:r>
              <a:rPr lang="ko-KR" altLang="en-US" dirty="0"/>
              <a:t>대중적 키워드로 막대한 유기적 트래픽</a:t>
            </a:r>
            <a:r>
              <a:rPr lang="en-US" altLang="ko-KR" dirty="0"/>
              <a:t>(Organic Traffic)</a:t>
            </a:r>
            <a:r>
              <a:rPr lang="ko-KR" altLang="en-US" dirty="0"/>
              <a:t>을 </a:t>
            </a:r>
            <a:r>
              <a:rPr lang="ko-KR" altLang="en-US" dirty="0" err="1"/>
              <a:t>끌어모음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MOFU (Middle): </a:t>
            </a:r>
            <a:r>
              <a:rPr lang="ko-KR" altLang="en-US" dirty="0"/>
              <a:t>해결책 탐색기</a:t>
            </a:r>
            <a:r>
              <a:rPr lang="en-US" altLang="ko-KR" dirty="0"/>
              <a:t>. </a:t>
            </a:r>
            <a:r>
              <a:rPr lang="ko-KR" altLang="en-US" dirty="0"/>
              <a:t>전문적이고 밀도 높은 자료를 대가로 고객의 </a:t>
            </a:r>
            <a:r>
              <a:rPr lang="en-US" altLang="ko-KR" dirty="0"/>
              <a:t>'</a:t>
            </a:r>
            <a:r>
              <a:rPr lang="ko-KR" altLang="en-US" dirty="0"/>
              <a:t>개인 정보</a:t>
            </a:r>
            <a:r>
              <a:rPr lang="en-US" altLang="ko-KR" dirty="0"/>
              <a:t>(Lead)'</a:t>
            </a:r>
            <a:r>
              <a:rPr lang="ko-KR" altLang="en-US" dirty="0"/>
              <a:t>를 교환함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BOFU (Bottom): </a:t>
            </a:r>
            <a:r>
              <a:rPr lang="ko-KR" altLang="en-US" dirty="0"/>
              <a:t>구매 </a:t>
            </a:r>
            <a:r>
              <a:rPr lang="ko-KR" altLang="en-US" dirty="0" err="1"/>
              <a:t>결정기</a:t>
            </a:r>
            <a:r>
              <a:rPr lang="en-US" altLang="ko-KR" dirty="0"/>
              <a:t>. </a:t>
            </a:r>
            <a:r>
              <a:rPr lang="ko-KR" altLang="en-US" dirty="0" err="1"/>
              <a:t>세일즈팀</a:t>
            </a:r>
            <a:r>
              <a:rPr lang="en-US" altLang="ko-KR" dirty="0"/>
              <a:t>(B2B)</a:t>
            </a:r>
            <a:r>
              <a:rPr lang="ko-KR" altLang="en-US" dirty="0"/>
              <a:t>이 직접 개입하여 경쟁사 대비 우위를 증명하고 최종 계약에 서명함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[</a:t>
            </a:r>
            <a:r>
              <a:rPr lang="ko-KR" altLang="en-US" sz="2300" dirty="0"/>
              <a:t>고관여 전략</a:t>
            </a:r>
            <a:r>
              <a:rPr lang="en-US" altLang="ko-KR" sz="2300" dirty="0"/>
              <a:t>] TOFU-MOFU-BOFU </a:t>
            </a:r>
            <a:r>
              <a:rPr lang="ko-KR" altLang="en-US" sz="2300" dirty="0"/>
              <a:t>프레임워크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95412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[TOFU </a:t>
            </a:r>
            <a:r>
              <a:rPr lang="ko-KR" altLang="en-US" dirty="0"/>
              <a:t>실무</a:t>
            </a:r>
            <a:r>
              <a:rPr lang="en-US" altLang="ko-KR" dirty="0"/>
              <a:t>] '</a:t>
            </a:r>
            <a:r>
              <a:rPr lang="ko-KR" altLang="en-US" dirty="0"/>
              <a:t>생산성 높이는 법</a:t>
            </a:r>
            <a:r>
              <a:rPr lang="en-US" altLang="ko-KR" dirty="0"/>
              <a:t>', '</a:t>
            </a:r>
            <a:r>
              <a:rPr lang="ko-KR" altLang="en-US" dirty="0"/>
              <a:t>세금 줄이는 법</a:t>
            </a:r>
            <a:r>
              <a:rPr lang="en-US" altLang="ko-KR" dirty="0"/>
              <a:t>' </a:t>
            </a:r>
            <a:r>
              <a:rPr lang="ko-KR" altLang="en-US" dirty="0"/>
              <a:t>등 범용적 키워드의 </a:t>
            </a:r>
            <a:r>
              <a:rPr lang="en-US" altLang="ko-KR" dirty="0"/>
              <a:t>SEO(</a:t>
            </a:r>
            <a:r>
              <a:rPr lang="ko-KR" altLang="en-US" dirty="0"/>
              <a:t>검색 최적화</a:t>
            </a:r>
            <a:r>
              <a:rPr lang="en-US" altLang="ko-KR" dirty="0"/>
              <a:t>) </a:t>
            </a:r>
            <a:r>
              <a:rPr lang="ko-KR" altLang="en-US" dirty="0"/>
              <a:t>작성</a:t>
            </a:r>
            <a:r>
              <a:rPr lang="en-US" altLang="ko-KR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주요 지표는 </a:t>
            </a:r>
            <a:r>
              <a:rPr lang="en-US" altLang="ko-KR" dirty="0"/>
              <a:t>'</a:t>
            </a:r>
            <a:r>
              <a:rPr lang="ko-KR" altLang="en-US" dirty="0"/>
              <a:t>신규 방문자 수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 err="1"/>
              <a:t>페이지뷰</a:t>
            </a:r>
            <a:r>
              <a:rPr lang="en-US" altLang="ko-KR" dirty="0"/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[MOFU </a:t>
            </a:r>
            <a:r>
              <a:rPr lang="ko-KR" altLang="en-US" dirty="0"/>
              <a:t>실무</a:t>
            </a:r>
            <a:r>
              <a:rPr lang="en-US" altLang="ko-KR" dirty="0"/>
              <a:t>] </a:t>
            </a:r>
            <a:r>
              <a:rPr lang="ko-KR" altLang="en-US" dirty="0"/>
              <a:t>트래픽을 리드</a:t>
            </a:r>
            <a:r>
              <a:rPr lang="en-US" altLang="ko-KR" dirty="0"/>
              <a:t>(Lead)</a:t>
            </a:r>
            <a:r>
              <a:rPr lang="ko-KR" altLang="en-US" dirty="0"/>
              <a:t>로 전환하는 핵심 병목 구간</a:t>
            </a:r>
            <a:r>
              <a:rPr lang="en-US" altLang="ko-KR" dirty="0"/>
              <a:t>. '2026 </a:t>
            </a:r>
            <a:r>
              <a:rPr lang="ko-KR" altLang="en-US" dirty="0"/>
              <a:t>산업 트렌드 리포트 </a:t>
            </a:r>
            <a:r>
              <a:rPr lang="en-US" altLang="ko-KR" dirty="0"/>
              <a:t>PDF'</a:t>
            </a:r>
            <a:r>
              <a:rPr lang="ko-KR" altLang="en-US" dirty="0"/>
              <a:t>를 제공하며 회사 이메일과 직급을 </a:t>
            </a:r>
            <a:r>
              <a:rPr lang="ko-KR" altLang="en-US" dirty="0" err="1"/>
              <a:t>입력받음</a:t>
            </a:r>
            <a:r>
              <a:rPr lang="en-US" altLang="ko-KR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주요 지표는 </a:t>
            </a:r>
            <a:r>
              <a:rPr lang="en-US" altLang="ko-KR" dirty="0"/>
              <a:t>'</a:t>
            </a:r>
            <a:r>
              <a:rPr lang="ko-KR" altLang="en-US" dirty="0"/>
              <a:t>리드 </a:t>
            </a:r>
            <a:r>
              <a:rPr lang="ko-KR" altLang="en-US" dirty="0" err="1"/>
              <a:t>획득률</a:t>
            </a:r>
            <a:r>
              <a:rPr lang="en-US" altLang="ko-KR" dirty="0"/>
              <a:t>(Lead Conversion Rate)’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[BOFU </a:t>
            </a:r>
            <a:r>
              <a:rPr lang="ko-KR" altLang="en-US" dirty="0"/>
              <a:t>실무</a:t>
            </a:r>
            <a:r>
              <a:rPr lang="en-US" altLang="ko-KR" dirty="0"/>
              <a:t>] </a:t>
            </a:r>
            <a:r>
              <a:rPr lang="ko-KR" altLang="en-US" dirty="0"/>
              <a:t>확보된 리드 중 결정권자</a:t>
            </a:r>
            <a:r>
              <a:rPr lang="en-US" altLang="ko-KR" dirty="0"/>
              <a:t>(C-Level)</a:t>
            </a:r>
            <a:r>
              <a:rPr lang="ko-KR" altLang="en-US" dirty="0"/>
              <a:t>를 타겟팅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무료 데모 계정 제공</a:t>
            </a:r>
            <a:r>
              <a:rPr lang="en-US" altLang="ko-KR" dirty="0"/>
              <a:t>, </a:t>
            </a:r>
            <a:r>
              <a:rPr lang="ko-KR" altLang="en-US" dirty="0"/>
              <a:t>도입 시 </a:t>
            </a:r>
            <a:r>
              <a:rPr lang="en-US" altLang="ko-KR" dirty="0"/>
              <a:t>ROI(</a:t>
            </a:r>
            <a:r>
              <a:rPr lang="ko-KR" altLang="en-US" dirty="0"/>
              <a:t>투자수익률</a:t>
            </a:r>
            <a:r>
              <a:rPr lang="en-US" altLang="ko-KR" dirty="0"/>
              <a:t>) </a:t>
            </a:r>
            <a:r>
              <a:rPr lang="ko-KR" altLang="en-US" dirty="0"/>
              <a:t>시뮬레이션 제공</a:t>
            </a:r>
            <a:r>
              <a:rPr lang="en-US" altLang="ko-KR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주요 지표는 </a:t>
            </a:r>
            <a:r>
              <a:rPr lang="en-US" altLang="ko-KR" dirty="0"/>
              <a:t>'</a:t>
            </a:r>
            <a:r>
              <a:rPr lang="ko-KR" altLang="en-US" dirty="0"/>
              <a:t>최종 계약 </a:t>
            </a:r>
            <a:r>
              <a:rPr lang="ko-KR" altLang="en-US" dirty="0" err="1"/>
              <a:t>성사율</a:t>
            </a:r>
            <a:r>
              <a:rPr lang="en-US" altLang="ko-KR" dirty="0"/>
              <a:t>(Win Rate)'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단계별 데이터 지표와 실무 액션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91378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세일즈포스</a:t>
            </a:r>
            <a:r>
              <a:rPr lang="en-US" altLang="ko-KR" dirty="0"/>
              <a:t>(Salesforce) CRM </a:t>
            </a:r>
            <a:r>
              <a:rPr lang="ko-KR" altLang="en-US" dirty="0"/>
              <a:t>도입기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TOFU: </a:t>
            </a:r>
            <a:r>
              <a:rPr lang="ko-KR" altLang="en-US" dirty="0"/>
              <a:t>구글 검색 </a:t>
            </a:r>
            <a:r>
              <a:rPr lang="en-US" altLang="ko-KR" dirty="0"/>
              <a:t>'B2B </a:t>
            </a:r>
            <a:r>
              <a:rPr lang="ko-KR" altLang="en-US" dirty="0"/>
              <a:t>영업 실적 </a:t>
            </a:r>
            <a:r>
              <a:rPr lang="en-US" altLang="ko-KR" dirty="0"/>
              <a:t>200% </a:t>
            </a:r>
            <a:r>
              <a:rPr lang="ko-KR" altLang="en-US" dirty="0"/>
              <a:t>올리는 가이드</a:t>
            </a:r>
            <a:r>
              <a:rPr lang="en-US" altLang="ko-KR" dirty="0"/>
              <a:t>' </a:t>
            </a:r>
            <a:r>
              <a:rPr lang="ko-KR" altLang="en-US" dirty="0"/>
              <a:t>블로그 노출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MOFU: </a:t>
            </a:r>
            <a:r>
              <a:rPr lang="ko-KR" altLang="en-US" dirty="0"/>
              <a:t>해당 블로그 하단에 </a:t>
            </a:r>
            <a:r>
              <a:rPr lang="en-US" altLang="ko-KR" dirty="0"/>
              <a:t>'</a:t>
            </a:r>
            <a:r>
              <a:rPr lang="ko-KR" altLang="en-US" dirty="0"/>
              <a:t>글로벌 영업 성공 사례 </a:t>
            </a:r>
            <a:r>
              <a:rPr lang="en-US" altLang="ko-KR" dirty="0"/>
              <a:t>50</a:t>
            </a:r>
            <a:r>
              <a:rPr lang="ko-KR" altLang="en-US" dirty="0"/>
              <a:t>선 백서</a:t>
            </a:r>
            <a:r>
              <a:rPr lang="en-US" altLang="ko-KR" dirty="0"/>
              <a:t>' </a:t>
            </a:r>
            <a:r>
              <a:rPr lang="ko-KR" altLang="en-US" dirty="0"/>
              <a:t>다운로드 링크 배치 </a:t>
            </a:r>
            <a:r>
              <a:rPr lang="en-US" altLang="ko-KR" dirty="0"/>
              <a:t>(</a:t>
            </a:r>
            <a:r>
              <a:rPr lang="ko-KR" altLang="en-US" dirty="0"/>
              <a:t>이메일</a:t>
            </a:r>
            <a:r>
              <a:rPr lang="en-US" altLang="ko-KR" dirty="0"/>
              <a:t>/</a:t>
            </a:r>
            <a:r>
              <a:rPr lang="ko-KR" altLang="en-US" dirty="0"/>
              <a:t>직책 수집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BOFU: </a:t>
            </a:r>
            <a:r>
              <a:rPr lang="ko-KR" altLang="en-US" dirty="0"/>
              <a:t>세일즈 담당자가 직접 이메일을 발송하여 </a:t>
            </a:r>
            <a:r>
              <a:rPr lang="en-US" altLang="ko-KR" dirty="0"/>
              <a:t>'</a:t>
            </a:r>
            <a:r>
              <a:rPr lang="ko-KR" altLang="en-US" dirty="0"/>
              <a:t>귀사 규모에 맞춘 </a:t>
            </a:r>
            <a:r>
              <a:rPr lang="en-US" altLang="ko-KR" dirty="0"/>
              <a:t>1:1 </a:t>
            </a:r>
            <a:r>
              <a:rPr lang="ko-KR" altLang="en-US" dirty="0"/>
              <a:t>맞춤형 화상 데모</a:t>
            </a:r>
            <a:r>
              <a:rPr lang="en-US" altLang="ko-KR" dirty="0"/>
              <a:t>' </a:t>
            </a:r>
            <a:r>
              <a:rPr lang="ko-KR" altLang="en-US" dirty="0"/>
              <a:t>제안 및 연간 라이선스 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글로벌 </a:t>
            </a:r>
            <a:r>
              <a:rPr lang="en-US" altLang="ko-KR" sz="2300" dirty="0"/>
              <a:t>B2B </a:t>
            </a:r>
            <a:r>
              <a:rPr lang="ko-KR" altLang="en-US" sz="2300" dirty="0"/>
              <a:t>기업의 전략 해부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89225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2007</a:t>
            </a:r>
            <a:r>
              <a:rPr lang="ko-KR" altLang="en-US" dirty="0"/>
              <a:t>년 </a:t>
            </a:r>
            <a:r>
              <a:rPr lang="en-US" altLang="ko-KR" dirty="0"/>
              <a:t>Dave McClure</a:t>
            </a:r>
            <a:r>
              <a:rPr lang="ko-KR" altLang="en-US" dirty="0"/>
              <a:t>가 제안한 모바일 앱</a:t>
            </a:r>
            <a:r>
              <a:rPr lang="en-US" altLang="ko-KR" dirty="0"/>
              <a:t>/</a:t>
            </a:r>
            <a:r>
              <a:rPr lang="ko-KR" altLang="en-US" dirty="0"/>
              <a:t>스타트업 성장의 </a:t>
            </a:r>
            <a:r>
              <a:rPr lang="en-US" altLang="ko-KR" dirty="0"/>
              <a:t>5</a:t>
            </a:r>
            <a:r>
              <a:rPr lang="ko-KR" altLang="en-US" dirty="0"/>
              <a:t>단계 핵심 지표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전통 </a:t>
            </a:r>
            <a:r>
              <a:rPr lang="ko-KR" altLang="en-US" dirty="0" err="1"/>
              <a:t>퍼널과</a:t>
            </a:r>
            <a:r>
              <a:rPr lang="ko-KR" altLang="en-US" dirty="0"/>
              <a:t> 달리</a:t>
            </a:r>
            <a:r>
              <a:rPr lang="en-US" altLang="ko-KR" dirty="0"/>
              <a:t>, '</a:t>
            </a:r>
            <a:r>
              <a:rPr lang="ko-KR" altLang="en-US" dirty="0"/>
              <a:t>획득</a:t>
            </a:r>
            <a:r>
              <a:rPr lang="en-US" altLang="ko-KR" dirty="0"/>
              <a:t>' </a:t>
            </a:r>
            <a:r>
              <a:rPr lang="ko-KR" altLang="en-US" dirty="0"/>
              <a:t>이후의 서비스 내부 경험</a:t>
            </a:r>
            <a:r>
              <a:rPr lang="en-US" altLang="ko-KR" dirty="0"/>
              <a:t>(</a:t>
            </a:r>
            <a:r>
              <a:rPr lang="ko-KR" altLang="en-US" dirty="0"/>
              <a:t>활성화</a:t>
            </a:r>
            <a:r>
              <a:rPr lang="en-US" altLang="ko-KR" dirty="0"/>
              <a:t>, </a:t>
            </a:r>
            <a:r>
              <a:rPr lang="ko-KR" altLang="en-US" dirty="0"/>
              <a:t>유지</a:t>
            </a:r>
            <a:r>
              <a:rPr lang="en-US" altLang="ko-KR" dirty="0"/>
              <a:t>)</a:t>
            </a:r>
            <a:r>
              <a:rPr lang="ko-KR" altLang="en-US" dirty="0"/>
              <a:t>을 생존의 필수 조건으로 격상함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핵심 철학</a:t>
            </a:r>
            <a:r>
              <a:rPr lang="en-US" altLang="ko-KR" dirty="0"/>
              <a:t>: Retention(</a:t>
            </a:r>
            <a:r>
              <a:rPr lang="ko-KR" altLang="en-US" dirty="0"/>
              <a:t>유지</a:t>
            </a:r>
            <a:r>
              <a:rPr lang="en-US" altLang="ko-KR" dirty="0"/>
              <a:t>)</a:t>
            </a:r>
            <a:r>
              <a:rPr lang="ko-KR" altLang="en-US" dirty="0"/>
              <a:t>이 확보되지 않은 상태에서 </a:t>
            </a:r>
            <a:r>
              <a:rPr lang="en-US" altLang="ko-KR" dirty="0"/>
              <a:t>Acquisition(</a:t>
            </a:r>
            <a:r>
              <a:rPr lang="ko-KR" altLang="en-US" dirty="0"/>
              <a:t>획득</a:t>
            </a:r>
            <a:r>
              <a:rPr lang="en-US" altLang="ko-KR" dirty="0"/>
              <a:t>)</a:t>
            </a:r>
            <a:r>
              <a:rPr lang="ko-KR" altLang="en-US" dirty="0"/>
              <a:t>에 마케팅 예산을 쏟는 것은 자살 행위이다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AARRR (</a:t>
            </a:r>
            <a:r>
              <a:rPr lang="ko-KR" altLang="en-US" sz="2300" dirty="0"/>
              <a:t>해적 지표</a:t>
            </a:r>
            <a:r>
              <a:rPr lang="en-US" altLang="ko-KR" sz="2300" dirty="0"/>
              <a:t>)</a:t>
            </a:r>
            <a:r>
              <a:rPr lang="ko-KR" altLang="en-US" sz="2300" dirty="0"/>
              <a:t>의 등장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180378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[Acquisition] </a:t>
            </a:r>
            <a:r>
              <a:rPr lang="ko-KR" altLang="en-US" dirty="0"/>
              <a:t>획득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고객이 우리를 어떻게 발견하는가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자연 유입 </a:t>
            </a:r>
            <a:r>
              <a:rPr lang="en-US" altLang="ko-KR" dirty="0"/>
              <a:t>vs </a:t>
            </a:r>
            <a:r>
              <a:rPr lang="ko-KR" altLang="en-US" dirty="0" err="1"/>
              <a:t>페이드</a:t>
            </a:r>
            <a:r>
              <a:rPr lang="ko-KR" altLang="en-US" dirty="0"/>
              <a:t> 광고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핵심 지표</a:t>
            </a:r>
            <a:r>
              <a:rPr lang="en-US" altLang="ko-KR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CAC(</a:t>
            </a:r>
            <a:r>
              <a:rPr lang="ko-KR" altLang="en-US" dirty="0"/>
              <a:t>고객 획득 비용</a:t>
            </a:r>
            <a:r>
              <a:rPr lang="en-US" altLang="ko-KR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채널별</a:t>
            </a:r>
            <a:r>
              <a:rPr lang="ko-KR" altLang="en-US" dirty="0"/>
              <a:t> 유입 단가</a:t>
            </a:r>
            <a:r>
              <a:rPr lang="en-US" altLang="ko-KR" dirty="0"/>
              <a:t>(CPI, CPA)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[Activation] </a:t>
            </a:r>
            <a:r>
              <a:rPr lang="ko-KR" altLang="en-US" dirty="0"/>
              <a:t>활성화 </a:t>
            </a:r>
            <a:r>
              <a:rPr lang="en-US" altLang="ko-KR" dirty="0"/>
              <a:t>(</a:t>
            </a:r>
            <a:r>
              <a:rPr lang="ko-KR" altLang="en-US" dirty="0"/>
              <a:t>초기 이탈의 핵심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가입 직후 서비스의 핵심 가치를 최초로 경험하는 순간</a:t>
            </a:r>
            <a:br>
              <a:rPr lang="en-US" altLang="ko-KR" dirty="0"/>
            </a:br>
            <a:r>
              <a:rPr lang="en-US" altLang="ko-KR" dirty="0"/>
              <a:t>(Aha-Moment)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핵심 지표</a:t>
            </a:r>
            <a:r>
              <a:rPr lang="en-US" altLang="ko-KR" dirty="0"/>
              <a:t>: </a:t>
            </a:r>
            <a:r>
              <a:rPr lang="ko-KR" altLang="en-US" dirty="0" err="1"/>
              <a:t>온보딩</a:t>
            </a:r>
            <a:r>
              <a:rPr lang="ko-KR" altLang="en-US" dirty="0"/>
              <a:t> </a:t>
            </a:r>
            <a:r>
              <a:rPr lang="ko-KR" altLang="en-US" dirty="0" err="1"/>
              <a:t>완료율</a:t>
            </a:r>
            <a:r>
              <a:rPr lang="en-US" altLang="ko-KR" dirty="0"/>
              <a:t>, </a:t>
            </a:r>
            <a:r>
              <a:rPr lang="ko-KR" altLang="en-US" dirty="0"/>
              <a:t>가입 후 </a:t>
            </a:r>
            <a:r>
              <a:rPr lang="en-US" altLang="ko-KR" dirty="0"/>
              <a:t>24</a:t>
            </a:r>
            <a:r>
              <a:rPr lang="ko-KR" altLang="en-US" dirty="0"/>
              <a:t>시간 내 핵심 기능</a:t>
            </a:r>
            <a:br>
              <a:rPr lang="en-US" altLang="ko-KR" dirty="0"/>
            </a:br>
            <a:r>
              <a:rPr lang="en-US" altLang="ko-KR" dirty="0"/>
              <a:t>(Core Feature) </a:t>
            </a:r>
            <a:r>
              <a:rPr lang="ko-KR" altLang="en-US" dirty="0"/>
              <a:t>사용률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실무 액션</a:t>
            </a:r>
            <a:r>
              <a:rPr lang="en-US" altLang="ko-KR" dirty="0"/>
              <a:t>: </a:t>
            </a:r>
            <a:r>
              <a:rPr lang="ko-KR" altLang="en-US" dirty="0"/>
              <a:t>복잡한 튜토리얼 생략</a:t>
            </a:r>
            <a:r>
              <a:rPr lang="en-US" altLang="ko-KR" dirty="0"/>
              <a:t>, </a:t>
            </a:r>
            <a:r>
              <a:rPr lang="ko-KR" altLang="en-US" dirty="0"/>
              <a:t>즉각적인 보상 제공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가입 즉시 </a:t>
            </a:r>
            <a:r>
              <a:rPr lang="en-US" altLang="ko-KR" dirty="0"/>
              <a:t>5,000</a:t>
            </a:r>
            <a:r>
              <a:rPr lang="ko-KR" altLang="en-US" dirty="0"/>
              <a:t>원 쿠폰 팝업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Acquisition(</a:t>
            </a:r>
            <a:r>
              <a:rPr lang="ko-KR" altLang="en-US" sz="2300" dirty="0"/>
              <a:t>획득</a:t>
            </a:r>
            <a:r>
              <a:rPr lang="en-US" altLang="ko-KR" sz="2300" dirty="0"/>
              <a:t>) &amp; Activation(</a:t>
            </a:r>
            <a:r>
              <a:rPr lang="ko-KR" altLang="en-US" sz="2300" dirty="0"/>
              <a:t>활성화</a:t>
            </a:r>
            <a:r>
              <a:rPr lang="en-US" altLang="ko-KR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94440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[Retention] </a:t>
            </a:r>
            <a:r>
              <a:rPr lang="ko-KR" altLang="en-US" dirty="0"/>
              <a:t>유지 </a:t>
            </a:r>
            <a:r>
              <a:rPr lang="en-US" altLang="ko-KR" dirty="0"/>
              <a:t>(</a:t>
            </a:r>
            <a:r>
              <a:rPr lang="ko-KR" altLang="en-US" dirty="0"/>
              <a:t>비즈니스의 체력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한 번 활성화된 고객이 이탈</a:t>
            </a:r>
            <a:r>
              <a:rPr lang="en-US" altLang="ko-KR" dirty="0"/>
              <a:t>(Churn)</a:t>
            </a:r>
            <a:r>
              <a:rPr lang="ko-KR" altLang="en-US" dirty="0"/>
              <a:t>하지 않고 주기적으로 재방문하는가</a:t>
            </a:r>
            <a:r>
              <a:rPr lang="en-US" altLang="ko-KR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핵심 지표</a:t>
            </a:r>
            <a:r>
              <a:rPr lang="en-US" altLang="ko-KR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DAU/MAU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/>
              <a:t>N</a:t>
            </a:r>
            <a:r>
              <a:rPr lang="ko-KR" altLang="en-US" dirty="0"/>
              <a:t>일차 재방문율</a:t>
            </a:r>
            <a:r>
              <a:rPr lang="en-US" altLang="ko-KR" dirty="0"/>
              <a:t>(Retention Rate)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실무 액션</a:t>
            </a:r>
            <a:r>
              <a:rPr lang="en-US" altLang="ko-KR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개인화된 푸시 알림</a:t>
            </a:r>
            <a:r>
              <a:rPr lang="en-US" altLang="ko-KR" dirty="0"/>
              <a:t>(CRM)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출석 체크 보상</a:t>
            </a:r>
            <a:endParaRPr lang="en-US" altLang="ko-KR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게이미피케이션</a:t>
            </a:r>
            <a:r>
              <a:rPr lang="en-US" altLang="ko-KR" dirty="0"/>
              <a:t>(Gamification)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[Revenue &amp; Referral] </a:t>
            </a:r>
            <a:r>
              <a:rPr lang="ko-KR" altLang="en-US" dirty="0"/>
              <a:t>매출과 추천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고객 활동이 수익으로 직결되며</a:t>
            </a:r>
            <a:r>
              <a:rPr lang="en-US" altLang="ko-KR" dirty="0"/>
              <a:t>(LTV, </a:t>
            </a:r>
            <a:r>
              <a:rPr lang="ko-KR" altLang="en-US" dirty="0" err="1"/>
              <a:t>객단가</a:t>
            </a:r>
            <a:r>
              <a:rPr lang="en-US" altLang="ko-KR" dirty="0"/>
              <a:t>), </a:t>
            </a:r>
            <a:r>
              <a:rPr lang="ko-KR" altLang="en-US" dirty="0"/>
              <a:t>자발적 바이럴</a:t>
            </a:r>
            <a:r>
              <a:rPr lang="en-US" altLang="ko-KR" dirty="0"/>
              <a:t>(</a:t>
            </a:r>
            <a:r>
              <a:rPr lang="ko-KR" altLang="en-US" dirty="0"/>
              <a:t>친구 초대 링크</a:t>
            </a:r>
            <a:r>
              <a:rPr lang="en-US" altLang="ko-KR" dirty="0"/>
              <a:t>)</a:t>
            </a:r>
            <a:r>
              <a:rPr lang="ko-KR" altLang="en-US" dirty="0"/>
              <a:t>을 통해 마케팅비 </a:t>
            </a:r>
            <a:r>
              <a:rPr lang="en-US" altLang="ko-KR" dirty="0"/>
              <a:t>0</a:t>
            </a:r>
            <a:r>
              <a:rPr lang="ko-KR" altLang="en-US" dirty="0"/>
              <a:t>원으로 신규 고객을 </a:t>
            </a:r>
            <a:r>
              <a:rPr lang="ko-KR" altLang="en-US" dirty="0" err="1"/>
              <a:t>끌어옴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Retention(</a:t>
            </a:r>
            <a:r>
              <a:rPr lang="ko-KR" altLang="en-US" sz="2300" dirty="0"/>
              <a:t>유지</a:t>
            </a:r>
            <a:r>
              <a:rPr lang="en-US" altLang="ko-KR" sz="2300" dirty="0"/>
              <a:t>) &amp; Revenue(</a:t>
            </a:r>
            <a:r>
              <a:rPr lang="ko-KR" altLang="en-US" sz="2300" dirty="0"/>
              <a:t>매출</a:t>
            </a:r>
            <a:r>
              <a:rPr lang="en-US" altLang="ko-KR" sz="2300" dirty="0"/>
              <a:t>/</a:t>
            </a:r>
            <a:r>
              <a:rPr lang="ko-KR" altLang="en-US" sz="2300" dirty="0"/>
              <a:t>추천</a:t>
            </a:r>
            <a:r>
              <a:rPr lang="en-US" altLang="ko-KR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4592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왜 구글 </a:t>
            </a:r>
            <a:r>
              <a:rPr lang="ko-KR" altLang="en-US" dirty="0" err="1"/>
              <a:t>애널리틱스</a:t>
            </a:r>
            <a:r>
              <a:rPr lang="ko-KR" altLang="en-US" dirty="0"/>
              <a:t> </a:t>
            </a:r>
            <a:r>
              <a:rPr lang="en-US" altLang="ko-KR" dirty="0"/>
              <a:t>4(GA4)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과거 유니버설 </a:t>
            </a:r>
            <a:r>
              <a:rPr lang="ko-KR" altLang="en-US" dirty="0" err="1"/>
              <a:t>애널리틱스는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 err="1"/>
              <a:t>페이지뷰</a:t>
            </a:r>
            <a:r>
              <a:rPr lang="en-US" altLang="ko-KR" dirty="0"/>
              <a:t>' </a:t>
            </a:r>
            <a:r>
              <a:rPr lang="ko-KR" altLang="en-US" dirty="0"/>
              <a:t>중심이었으나</a:t>
            </a:r>
            <a:r>
              <a:rPr lang="en-US" altLang="ko-KR" dirty="0"/>
              <a:t>, GA4</a:t>
            </a:r>
            <a:r>
              <a:rPr lang="ko-KR" altLang="en-US" dirty="0"/>
              <a:t>는 고객의 모든 행동을 </a:t>
            </a:r>
            <a:r>
              <a:rPr lang="en-US" altLang="ko-KR" dirty="0"/>
              <a:t>'</a:t>
            </a:r>
            <a:r>
              <a:rPr lang="ko-KR" altLang="en-US" dirty="0"/>
              <a:t>이벤트</a:t>
            </a:r>
            <a:r>
              <a:rPr lang="en-US" altLang="ko-KR" dirty="0"/>
              <a:t>(Event)' </a:t>
            </a:r>
            <a:r>
              <a:rPr lang="ko-KR" altLang="en-US" dirty="0"/>
              <a:t>단위로 수집하여 </a:t>
            </a:r>
            <a:r>
              <a:rPr lang="ko-KR" altLang="en-US" dirty="0" err="1"/>
              <a:t>퍼널</a:t>
            </a:r>
            <a:r>
              <a:rPr lang="ko-KR" altLang="en-US" dirty="0"/>
              <a:t> 분석에 최적화됨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코호트 분석</a:t>
            </a:r>
            <a:r>
              <a:rPr lang="en-US" altLang="ko-KR" dirty="0"/>
              <a:t>(Cohort Analysis)</a:t>
            </a:r>
            <a:r>
              <a:rPr lang="ko-KR" altLang="en-US" dirty="0"/>
              <a:t>의 강력함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같은 주차에 가입한 사용자 그룹</a:t>
            </a:r>
            <a:r>
              <a:rPr lang="en-US" altLang="ko-KR" dirty="0"/>
              <a:t>'</a:t>
            </a:r>
            <a:r>
              <a:rPr lang="ko-KR" altLang="en-US" dirty="0"/>
              <a:t>을 하나로 묶어 시간 흐름에 따른 생존율 추적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인사이트 도출</a:t>
            </a:r>
            <a:r>
              <a:rPr lang="en-US" altLang="ko-KR" dirty="0"/>
              <a:t>: '</a:t>
            </a:r>
            <a:r>
              <a:rPr lang="ko-KR" altLang="en-US" dirty="0"/>
              <a:t>가입 </a:t>
            </a:r>
            <a:r>
              <a:rPr lang="en-US" altLang="ko-KR" dirty="0"/>
              <a:t>1</a:t>
            </a:r>
            <a:r>
              <a:rPr lang="ko-KR" altLang="en-US" dirty="0"/>
              <a:t>일 차 이탈이 </a:t>
            </a:r>
            <a:r>
              <a:rPr lang="en-US" altLang="ko-KR" dirty="0"/>
              <a:t>80%</a:t>
            </a:r>
            <a:r>
              <a:rPr lang="ko-KR" altLang="en-US" dirty="0"/>
              <a:t>라면 </a:t>
            </a:r>
            <a:r>
              <a:rPr lang="en-US" altLang="ko-KR" dirty="0"/>
              <a:t>Activation </a:t>
            </a:r>
            <a:r>
              <a:rPr lang="ko-KR" altLang="en-US" dirty="0"/>
              <a:t>실패</a:t>
            </a:r>
            <a:r>
              <a:rPr lang="en-US" altLang="ko-KR" dirty="0"/>
              <a:t>, 7</a:t>
            </a:r>
            <a:r>
              <a:rPr lang="ko-KR" altLang="en-US" dirty="0"/>
              <a:t>일 차부터 꺾인다면 앱의 지속적 가치</a:t>
            </a:r>
            <a:r>
              <a:rPr lang="en-US" altLang="ko-KR" dirty="0"/>
              <a:t>(Retention) </a:t>
            </a:r>
            <a:r>
              <a:rPr lang="ko-KR" altLang="en-US" dirty="0"/>
              <a:t>부족</a:t>
            </a:r>
            <a:r>
              <a:rPr lang="en-US" altLang="ko-KR" dirty="0"/>
              <a:t>'</a:t>
            </a:r>
            <a:r>
              <a:rPr lang="ko-KR" altLang="en-US" dirty="0"/>
              <a:t>으로 진단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GA4</a:t>
            </a:r>
            <a:r>
              <a:rPr lang="ko-KR" altLang="en-US" sz="2300" dirty="0"/>
              <a:t>와 </a:t>
            </a:r>
            <a:r>
              <a:rPr lang="ko-KR" altLang="en-US" sz="2300" dirty="0" err="1"/>
              <a:t>리텐션</a:t>
            </a:r>
            <a:r>
              <a:rPr lang="ko-KR" altLang="en-US" sz="2300" dirty="0"/>
              <a:t> 추적의 기술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392956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</a:t>
            </a:r>
            <a:r>
              <a:rPr lang="en-US" altLang="ko-KR" dirty="0" err="1"/>
              <a:t>Acq</a:t>
            </a:r>
            <a:r>
              <a:rPr lang="en-US" altLang="ko-KR" dirty="0"/>
              <a:t>] '</a:t>
            </a:r>
            <a:r>
              <a:rPr lang="ko-KR" altLang="en-US" dirty="0"/>
              <a:t>송금 수수료 평생 무료</a:t>
            </a:r>
            <a:r>
              <a:rPr lang="en-US" altLang="ko-KR" dirty="0"/>
              <a:t>'</a:t>
            </a:r>
            <a:r>
              <a:rPr lang="ko-KR" altLang="en-US" dirty="0"/>
              <a:t>라는 파격적 캐치프레이즈로 앱 설치 유도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[Act] </a:t>
            </a:r>
            <a:r>
              <a:rPr lang="ko-KR" altLang="en-US" dirty="0"/>
              <a:t>복잡한 공인인증서 없이</a:t>
            </a:r>
            <a:r>
              <a:rPr lang="en-US" altLang="ko-KR" dirty="0"/>
              <a:t>, </a:t>
            </a:r>
            <a:r>
              <a:rPr lang="ko-KR" altLang="en-US" dirty="0"/>
              <a:t>흩어진 내 모든 은행 계좌를 </a:t>
            </a:r>
            <a:r>
              <a:rPr lang="en-US" altLang="ko-KR" dirty="0"/>
              <a:t>1</a:t>
            </a:r>
            <a:r>
              <a:rPr lang="ko-KR" altLang="en-US" dirty="0"/>
              <a:t>초 만에 </a:t>
            </a:r>
            <a:r>
              <a:rPr lang="ko-KR" altLang="en-US" dirty="0" err="1"/>
              <a:t>스크래핑하여</a:t>
            </a:r>
            <a:r>
              <a:rPr lang="ko-KR" altLang="en-US" dirty="0"/>
              <a:t> 보여줌 </a:t>
            </a:r>
            <a:r>
              <a:rPr lang="en-US" altLang="ko-KR" dirty="0"/>
              <a:t>(</a:t>
            </a:r>
            <a:r>
              <a:rPr lang="ko-KR" altLang="en-US" dirty="0"/>
              <a:t>강렬한 </a:t>
            </a:r>
            <a:r>
              <a:rPr lang="en-US" altLang="ko-KR" dirty="0"/>
              <a:t>Aha-moment)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[Ret] </a:t>
            </a:r>
            <a:r>
              <a:rPr lang="ko-KR" altLang="en-US" dirty="0"/>
              <a:t>만보기</a:t>
            </a:r>
            <a:r>
              <a:rPr lang="en-US" altLang="ko-KR" dirty="0"/>
              <a:t>, </a:t>
            </a:r>
            <a:r>
              <a:rPr lang="ko-KR" altLang="en-US" dirty="0"/>
              <a:t>행운 퀴즈 등 금융 앱을 매일 켜게 만드는 습관 형성 장치 탑재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[Rev] </a:t>
            </a:r>
            <a:r>
              <a:rPr lang="ko-KR" altLang="en-US" dirty="0"/>
              <a:t>모인 트래픽을 바탕으로 대출 비교 연계 수수료</a:t>
            </a:r>
            <a:r>
              <a:rPr lang="en-US" altLang="ko-KR" dirty="0"/>
              <a:t>, </a:t>
            </a:r>
            <a:r>
              <a:rPr lang="ko-KR" altLang="en-US" dirty="0"/>
              <a:t>토스 프라임 구독료 창출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[Ref] '</a:t>
            </a:r>
            <a:r>
              <a:rPr lang="ko-KR" altLang="en-US" dirty="0"/>
              <a:t>내 링크로 가입하면 서로 </a:t>
            </a:r>
            <a:r>
              <a:rPr lang="en-US" altLang="ko-KR" dirty="0"/>
              <a:t>1,000</a:t>
            </a:r>
            <a:r>
              <a:rPr lang="ko-KR" altLang="en-US" dirty="0"/>
              <a:t>원 지급</a:t>
            </a:r>
            <a:r>
              <a:rPr lang="en-US" altLang="ko-KR" dirty="0"/>
              <a:t>'</a:t>
            </a:r>
            <a:r>
              <a:rPr lang="ko-KR" altLang="en-US" dirty="0"/>
              <a:t>을 통한 폭발적 바이럴 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토스</a:t>
            </a:r>
            <a:r>
              <a:rPr lang="en-US" altLang="ko-KR" sz="2300" dirty="0"/>
              <a:t>(Toss)</a:t>
            </a:r>
            <a:r>
              <a:rPr lang="ko-KR" altLang="en-US" sz="2300" dirty="0"/>
              <a:t>의 </a:t>
            </a:r>
            <a:r>
              <a:rPr lang="en-US" altLang="ko-KR" sz="2300" dirty="0"/>
              <a:t>AARRR</a:t>
            </a:r>
          </a:p>
        </p:txBody>
      </p:sp>
    </p:spTree>
    <p:extLst>
      <p:ext uri="{BB962C8B-B14F-4D97-AF65-F5344CB8AC3E}">
        <p14:creationId xmlns:p14="http://schemas.microsoft.com/office/powerpoint/2010/main" val="1581540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퍼널의</a:t>
            </a:r>
            <a:r>
              <a:rPr lang="ko-KR" altLang="en-US" dirty="0"/>
              <a:t> 치명적 단점</a:t>
            </a:r>
            <a:r>
              <a:rPr lang="en-US" altLang="ko-KR" dirty="0"/>
              <a:t>: </a:t>
            </a:r>
            <a:r>
              <a:rPr lang="ko-KR" altLang="en-US" dirty="0"/>
              <a:t>에너지를 쏟아붓지 않으면 깔때기 흐름이 멈춤</a:t>
            </a:r>
            <a:r>
              <a:rPr lang="en-US" altLang="ko-KR" dirty="0"/>
              <a:t>. </a:t>
            </a:r>
            <a:r>
              <a:rPr lang="ko-KR" altLang="en-US" dirty="0"/>
              <a:t>고객을 단순히 </a:t>
            </a:r>
            <a:r>
              <a:rPr lang="en-US" altLang="ko-KR" dirty="0"/>
              <a:t>'</a:t>
            </a:r>
            <a:r>
              <a:rPr lang="ko-KR" altLang="en-US" dirty="0"/>
              <a:t>배출된 결과물</a:t>
            </a:r>
            <a:r>
              <a:rPr lang="en-US" altLang="ko-KR" dirty="0"/>
              <a:t>'</a:t>
            </a:r>
            <a:r>
              <a:rPr lang="ko-KR" altLang="en-US" dirty="0"/>
              <a:t>로 취급함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플라이휠의</a:t>
            </a:r>
            <a:r>
              <a:rPr lang="ko-KR" altLang="en-US" dirty="0"/>
              <a:t> 철학</a:t>
            </a:r>
            <a:r>
              <a:rPr lang="en-US" altLang="ko-KR" dirty="0"/>
              <a:t>: </a:t>
            </a:r>
            <a:r>
              <a:rPr lang="ko-KR" altLang="en-US" dirty="0"/>
              <a:t>아마존</a:t>
            </a:r>
            <a:r>
              <a:rPr lang="en-US" altLang="ko-KR" dirty="0"/>
              <a:t>, </a:t>
            </a:r>
            <a:r>
              <a:rPr lang="ko-KR" altLang="en-US" dirty="0"/>
              <a:t>제프 </a:t>
            </a:r>
            <a:r>
              <a:rPr lang="ko-KR" altLang="en-US" dirty="0" err="1"/>
              <a:t>베이조스가</a:t>
            </a:r>
            <a:r>
              <a:rPr lang="ko-KR" altLang="en-US" dirty="0"/>
              <a:t> 창안</a:t>
            </a:r>
            <a:r>
              <a:rPr lang="en-US" altLang="ko-KR" dirty="0"/>
              <a:t>. </a:t>
            </a:r>
            <a:r>
              <a:rPr lang="ko-KR" altLang="en-US" dirty="0"/>
              <a:t>고객을 마케팅의 </a:t>
            </a:r>
            <a:r>
              <a:rPr lang="en-US" altLang="ko-KR" dirty="0"/>
              <a:t>'</a:t>
            </a:r>
            <a:r>
              <a:rPr lang="ko-KR" altLang="en-US" dirty="0"/>
              <a:t>끝</a:t>
            </a:r>
            <a:r>
              <a:rPr lang="en-US" altLang="ko-KR" dirty="0"/>
              <a:t>'</a:t>
            </a:r>
            <a:r>
              <a:rPr lang="ko-KR" altLang="en-US" dirty="0"/>
              <a:t>이 아니라</a:t>
            </a:r>
            <a:r>
              <a:rPr lang="en-US" altLang="ko-KR" dirty="0"/>
              <a:t>, </a:t>
            </a:r>
            <a:r>
              <a:rPr lang="ko-KR" altLang="en-US" dirty="0"/>
              <a:t>바퀴를 돌려주는 </a:t>
            </a:r>
            <a:r>
              <a:rPr lang="en-US" altLang="ko-KR" dirty="0"/>
              <a:t>'</a:t>
            </a:r>
            <a:r>
              <a:rPr lang="ko-KR" altLang="en-US" dirty="0"/>
              <a:t>성장의 중심 동력</a:t>
            </a:r>
            <a:r>
              <a:rPr lang="en-US" altLang="ko-KR" dirty="0"/>
              <a:t>'</a:t>
            </a:r>
            <a:r>
              <a:rPr lang="ko-KR" altLang="en-US" dirty="0"/>
              <a:t>으로 배치함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3</a:t>
            </a:r>
            <a:r>
              <a:rPr lang="ko-KR" altLang="en-US" dirty="0"/>
              <a:t>대 요소</a:t>
            </a:r>
            <a:r>
              <a:rPr lang="en-US" altLang="ko-KR" dirty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Attract(</a:t>
            </a:r>
            <a:r>
              <a:rPr lang="ko-KR" altLang="en-US" dirty="0"/>
              <a:t>유용한 정보로 끌어당김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Engage(</a:t>
            </a:r>
            <a:r>
              <a:rPr lang="ko-KR" altLang="en-US" dirty="0"/>
              <a:t>마찰 없이 교감함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Delight(</a:t>
            </a:r>
            <a:r>
              <a:rPr lang="ko-KR" altLang="en-US" dirty="0"/>
              <a:t>기대 이상의 감동을 줌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기쁘고 감동한 고객</a:t>
            </a:r>
            <a:r>
              <a:rPr lang="en-US" altLang="ko-KR" dirty="0"/>
              <a:t>(Delight)</a:t>
            </a:r>
            <a:r>
              <a:rPr lang="ko-KR" altLang="en-US" dirty="0"/>
              <a:t>은 자발적으로 입소문을 내어 막대한 신규 트래픽</a:t>
            </a:r>
            <a:r>
              <a:rPr lang="en-US" altLang="ko-KR" dirty="0"/>
              <a:t>(Attract)</a:t>
            </a:r>
            <a:r>
              <a:rPr lang="ko-KR" altLang="en-US" dirty="0"/>
              <a:t>을 스스로 창출하는 관성을 가짐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퍼널의</a:t>
            </a:r>
            <a:r>
              <a:rPr lang="ko-KR" altLang="en-US" sz="2300" dirty="0"/>
              <a:t> 종말과 </a:t>
            </a:r>
            <a:r>
              <a:rPr lang="ko-KR" altLang="en-US" sz="2300" dirty="0" err="1"/>
              <a:t>플라이휠</a:t>
            </a:r>
            <a:r>
              <a:rPr lang="en-US" altLang="ko-KR" sz="2300" dirty="0"/>
              <a:t>(Flywheel)</a:t>
            </a:r>
          </a:p>
        </p:txBody>
      </p:sp>
    </p:spTree>
    <p:extLst>
      <p:ext uri="{BB962C8B-B14F-4D97-AF65-F5344CB8AC3E}">
        <p14:creationId xmlns:p14="http://schemas.microsoft.com/office/powerpoint/2010/main" val="1901089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문제</a:t>
            </a:r>
            <a:r>
              <a:rPr lang="en-US" altLang="ko-KR" dirty="0"/>
              <a:t>: </a:t>
            </a:r>
            <a:r>
              <a:rPr lang="ko-KR" altLang="en-US" dirty="0"/>
              <a:t>성심당은 왜 </a:t>
            </a:r>
            <a:r>
              <a:rPr lang="ko-KR" altLang="en-US" dirty="0" err="1"/>
              <a:t>파리바게뜨보다</a:t>
            </a:r>
            <a:r>
              <a:rPr lang="ko-KR" altLang="en-US" dirty="0"/>
              <a:t> 높은 영업이익을 내면서도 전국 </a:t>
            </a:r>
            <a:r>
              <a:rPr lang="en-US" altLang="ko-KR" dirty="0"/>
              <a:t>TV </a:t>
            </a:r>
            <a:r>
              <a:rPr lang="ko-KR" altLang="en-US" dirty="0"/>
              <a:t>광고를 한 번도 하지 않을까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회전의 시작 </a:t>
            </a:r>
            <a:r>
              <a:rPr lang="en-US" altLang="ko-KR" dirty="0"/>
              <a:t>(</a:t>
            </a:r>
            <a:r>
              <a:rPr lang="ko-KR" altLang="en-US" dirty="0"/>
              <a:t>압도적 고객 경험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마진을 과감히 포기하고 딸기가 산처럼 쌓인 </a:t>
            </a:r>
            <a:r>
              <a:rPr lang="en-US" altLang="ko-KR" dirty="0"/>
              <a:t>'</a:t>
            </a:r>
            <a:r>
              <a:rPr lang="ko-KR" altLang="en-US" dirty="0" err="1"/>
              <a:t>딸기시루</a:t>
            </a:r>
            <a:r>
              <a:rPr lang="en-US" altLang="ko-KR" dirty="0"/>
              <a:t>'</a:t>
            </a:r>
            <a:r>
              <a:rPr lang="ko-KR" altLang="en-US" dirty="0"/>
              <a:t>를 </a:t>
            </a:r>
            <a:r>
              <a:rPr lang="en-US" altLang="ko-KR" dirty="0"/>
              <a:t>4</a:t>
            </a:r>
            <a:r>
              <a:rPr lang="ko-KR" altLang="en-US" dirty="0"/>
              <a:t>만 원대에 판매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이 가격에 이 퀄리티</a:t>
            </a:r>
            <a:r>
              <a:rPr lang="en-US" altLang="ko-KR" dirty="0"/>
              <a:t>?'</a:t>
            </a:r>
            <a:r>
              <a:rPr lang="ko-KR" altLang="en-US" dirty="0"/>
              <a:t>라는 강렬한 </a:t>
            </a:r>
            <a:r>
              <a:rPr lang="en-US" altLang="ko-KR" dirty="0"/>
              <a:t>Aha-moment</a:t>
            </a:r>
            <a:r>
              <a:rPr lang="ko-KR" altLang="en-US" dirty="0"/>
              <a:t>와 </a:t>
            </a:r>
            <a:r>
              <a:rPr lang="en-US" altLang="ko-KR" dirty="0"/>
              <a:t>Delight </a:t>
            </a:r>
            <a:r>
              <a:rPr lang="ko-KR" altLang="en-US" dirty="0"/>
              <a:t>창출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가속도 </a:t>
            </a:r>
            <a:r>
              <a:rPr lang="en-US" altLang="ko-KR" dirty="0"/>
              <a:t>1 (</a:t>
            </a:r>
            <a:r>
              <a:rPr lang="ko-KR" altLang="en-US" dirty="0"/>
              <a:t>트래픽 폭발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감동한 고객들이 인스타그램</a:t>
            </a:r>
            <a:r>
              <a:rPr lang="en-US" altLang="ko-KR" dirty="0"/>
              <a:t>/</a:t>
            </a:r>
            <a:r>
              <a:rPr lang="ko-KR" altLang="en-US" dirty="0" err="1"/>
              <a:t>틱톡에</a:t>
            </a:r>
            <a:r>
              <a:rPr lang="ko-KR" altLang="en-US" dirty="0"/>
              <a:t> 자발적 인증샷 업로드 </a:t>
            </a:r>
            <a:r>
              <a:rPr lang="en-US" altLang="ko-KR" dirty="0"/>
              <a:t>(</a:t>
            </a:r>
            <a:r>
              <a:rPr lang="ko-KR" altLang="en-US" dirty="0"/>
              <a:t>고객이 곧 마케터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KTX</a:t>
            </a:r>
            <a:r>
              <a:rPr lang="ko-KR" altLang="en-US" dirty="0"/>
              <a:t>를 타고 대전으로 몰려드는 전국구 </a:t>
            </a:r>
            <a:r>
              <a:rPr lang="en-US" altLang="ko-KR" dirty="0"/>
              <a:t>'</a:t>
            </a:r>
            <a:r>
              <a:rPr lang="ko-KR" altLang="en-US" dirty="0" err="1"/>
              <a:t>빵지순례</a:t>
            </a:r>
            <a:r>
              <a:rPr lang="en-US" altLang="ko-KR" dirty="0"/>
              <a:t>' </a:t>
            </a:r>
            <a:r>
              <a:rPr lang="ko-KR" altLang="en-US" dirty="0"/>
              <a:t>현상 발현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성심당</a:t>
            </a:r>
            <a:r>
              <a:rPr lang="en-US" altLang="ko-KR" sz="2300" dirty="0"/>
              <a:t>: </a:t>
            </a:r>
            <a:r>
              <a:rPr lang="ko-KR" altLang="en-US" sz="2300" dirty="0"/>
              <a:t>오프라인 </a:t>
            </a:r>
            <a:r>
              <a:rPr lang="ko-KR" altLang="en-US" sz="2300" dirty="0" err="1"/>
              <a:t>플라이휠의</a:t>
            </a:r>
            <a:r>
              <a:rPr lang="ko-KR" altLang="en-US" sz="2300" dirty="0"/>
              <a:t> 완벽한 구현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3301875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가속도 </a:t>
            </a:r>
            <a:r>
              <a:rPr lang="en-US" altLang="ko-KR" dirty="0"/>
              <a:t>2 (</a:t>
            </a:r>
            <a:r>
              <a:rPr lang="ko-KR" altLang="en-US" dirty="0"/>
              <a:t>규모의 경제와 효율 극대화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트래픽이 몰리니 빵이 나오는 족족 팔려 재고 폐기율이 </a:t>
            </a:r>
            <a:r>
              <a:rPr lang="en-US" altLang="ko-KR" dirty="0"/>
              <a:t>0%</a:t>
            </a:r>
            <a:r>
              <a:rPr lang="ko-KR" altLang="en-US" dirty="0"/>
              <a:t>에 수렴함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밀가루 등 원재료를 </a:t>
            </a:r>
            <a:r>
              <a:rPr lang="ko-KR" altLang="en-US" dirty="0" err="1"/>
              <a:t>초대량으로</a:t>
            </a:r>
            <a:r>
              <a:rPr lang="ko-KR" altLang="en-US" dirty="0"/>
              <a:t> </a:t>
            </a:r>
            <a:r>
              <a:rPr lang="ko-KR" altLang="en-US" dirty="0" err="1"/>
              <a:t>직매입하여</a:t>
            </a:r>
            <a:r>
              <a:rPr lang="ko-KR" altLang="en-US" dirty="0"/>
              <a:t> 원가를 획기적으로 낮춤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대전 외 지역 진출 불가</a:t>
            </a:r>
            <a:r>
              <a:rPr lang="en-US" altLang="ko-KR" dirty="0"/>
              <a:t>' </a:t>
            </a:r>
            <a:r>
              <a:rPr lang="ko-KR" altLang="en-US" dirty="0"/>
              <a:t>원칙으로 전국구 </a:t>
            </a:r>
            <a:r>
              <a:rPr lang="ko-KR" altLang="en-US" dirty="0" err="1"/>
              <a:t>물류비</a:t>
            </a:r>
            <a:r>
              <a:rPr lang="ko-KR" altLang="en-US" dirty="0"/>
              <a:t> 및 가맹 관리비 </a:t>
            </a:r>
            <a:r>
              <a:rPr lang="en-US" altLang="ko-KR" dirty="0"/>
              <a:t>0</a:t>
            </a:r>
            <a:r>
              <a:rPr lang="ko-KR" altLang="en-US" dirty="0"/>
              <a:t>원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선순환 완성 </a:t>
            </a:r>
            <a:r>
              <a:rPr lang="en-US" altLang="ko-KR" dirty="0"/>
              <a:t>(</a:t>
            </a:r>
            <a:r>
              <a:rPr lang="ko-KR" altLang="en-US" dirty="0"/>
              <a:t>재투자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절감된 막대한 비용을 사내 유보하지 않고</a:t>
            </a:r>
            <a:r>
              <a:rPr lang="en-US" altLang="ko-KR" dirty="0"/>
              <a:t>, </a:t>
            </a:r>
            <a:r>
              <a:rPr lang="ko-KR" altLang="en-US" dirty="0"/>
              <a:t>다시 빵의 가격 동결과 직원 복지에 </a:t>
            </a:r>
            <a:r>
              <a:rPr lang="ko-KR" altLang="en-US" dirty="0" err="1"/>
              <a:t>쏟아부음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＇</a:t>
            </a:r>
            <a:r>
              <a:rPr lang="ko-KR" altLang="en-US" dirty="0"/>
              <a:t>성심당</a:t>
            </a:r>
            <a:r>
              <a:rPr lang="en-US" altLang="ko-KR" dirty="0"/>
              <a:t>＇ </a:t>
            </a:r>
            <a:r>
              <a:rPr lang="ko-KR" altLang="en-US" dirty="0"/>
              <a:t>브랜드의 신격화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더 큰 트래픽 유발의 무한 회전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성심당</a:t>
            </a:r>
            <a:r>
              <a:rPr lang="en-US" altLang="ko-KR" sz="2300" dirty="0"/>
              <a:t>: </a:t>
            </a:r>
            <a:r>
              <a:rPr lang="ko-KR" altLang="en-US" sz="2300" dirty="0"/>
              <a:t>오프라인 </a:t>
            </a:r>
            <a:r>
              <a:rPr lang="ko-KR" altLang="en-US" sz="2300" dirty="0" err="1"/>
              <a:t>플라이휠의</a:t>
            </a:r>
            <a:r>
              <a:rPr lang="ko-KR" altLang="en-US" sz="2300" dirty="0"/>
              <a:t> 완벽한 구현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705174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광고</a:t>
            </a:r>
            <a:r>
              <a:rPr lang="en-US" altLang="ko-KR" dirty="0"/>
              <a:t>(Acquisition)</a:t>
            </a:r>
            <a:r>
              <a:rPr lang="ko-KR" altLang="en-US" dirty="0"/>
              <a:t>에 수천만 원을 태우기 전에 스스로 질문하라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우리 제품은 고객이 자발적으로 지인에게 추천할 만큼 압도적인 경험</a:t>
            </a:r>
            <a:r>
              <a:rPr lang="en-US" altLang="ko-KR" dirty="0"/>
              <a:t>(Delight)</a:t>
            </a:r>
            <a:r>
              <a:rPr lang="ko-KR" altLang="en-US" dirty="0"/>
              <a:t>을 주고 있는가</a:t>
            </a:r>
            <a:r>
              <a:rPr lang="en-US" altLang="ko-KR" dirty="0"/>
              <a:t>?’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데이터 분석가는 마케팅 </a:t>
            </a:r>
            <a:r>
              <a:rPr lang="ko-KR" altLang="en-US" dirty="0" err="1"/>
              <a:t>퍼널의</a:t>
            </a:r>
            <a:r>
              <a:rPr lang="ko-KR" altLang="en-US" dirty="0"/>
              <a:t> </a:t>
            </a:r>
            <a:r>
              <a:rPr lang="ko-KR" altLang="en-US" dirty="0" err="1"/>
              <a:t>전환율뿐만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고객의 </a:t>
            </a:r>
            <a:r>
              <a:rPr lang="en-US" altLang="ko-KR" dirty="0"/>
              <a:t>NPS(</a:t>
            </a:r>
            <a:r>
              <a:rPr lang="ko-KR" altLang="en-US" dirty="0"/>
              <a:t>순수추천고객지수</a:t>
            </a:r>
            <a:r>
              <a:rPr lang="en-US" altLang="ko-KR" dirty="0"/>
              <a:t>)</a:t>
            </a:r>
            <a:r>
              <a:rPr lang="ko-KR" altLang="en-US" dirty="0"/>
              <a:t>와 바이럴 계수를 측정하여 </a:t>
            </a:r>
            <a:r>
              <a:rPr lang="ko-KR" altLang="en-US" dirty="0" err="1"/>
              <a:t>플라이휠의</a:t>
            </a:r>
            <a:r>
              <a:rPr lang="ko-KR" altLang="en-US" dirty="0"/>
              <a:t> 회전 속도를 진단해야 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플라이휠이</a:t>
            </a:r>
            <a:r>
              <a:rPr lang="ko-KR" altLang="en-US" sz="2300" dirty="0"/>
              <a:t> 데이터 분석가에게 주는 교훈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943371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</a:t>
            </a:r>
            <a:r>
              <a:rPr lang="ko-KR" altLang="en-US" dirty="0"/>
              <a:t>맥락</a:t>
            </a:r>
            <a:r>
              <a:rPr lang="en-US" altLang="ko-KR" dirty="0"/>
              <a:t>]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단일 지표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장바구니 이탈</a:t>
            </a:r>
            <a:r>
              <a:rPr lang="en-US" altLang="ko-KR" dirty="0"/>
              <a:t>)</a:t>
            </a:r>
            <a:r>
              <a:rPr lang="ko-KR" altLang="en-US" dirty="0"/>
              <a:t>에 매몰되지 마라</a:t>
            </a:r>
            <a:r>
              <a:rPr lang="en-US" altLang="ko-KR" dirty="0"/>
              <a:t>. </a:t>
            </a:r>
            <a:r>
              <a:rPr lang="ko-KR" altLang="en-US" dirty="0"/>
              <a:t>전체 고객 여정</a:t>
            </a:r>
            <a:r>
              <a:rPr lang="en-US" altLang="ko-KR" dirty="0"/>
              <a:t>(Journey) </a:t>
            </a:r>
            <a:r>
              <a:rPr lang="ko-KR" altLang="en-US" dirty="0"/>
              <a:t>속에서 데이터가 가리키는 </a:t>
            </a:r>
            <a:r>
              <a:rPr lang="en-US" altLang="ko-KR" dirty="0"/>
              <a:t>'</a:t>
            </a:r>
            <a:r>
              <a:rPr lang="ko-KR" altLang="en-US" dirty="0"/>
              <a:t>불편함</a:t>
            </a:r>
            <a:r>
              <a:rPr lang="en-US" altLang="ko-KR" dirty="0"/>
              <a:t>'</a:t>
            </a:r>
            <a:r>
              <a:rPr lang="ko-KR" altLang="en-US" dirty="0"/>
              <a:t>의 맥락을 읽어라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</a:t>
            </a:r>
            <a:r>
              <a:rPr lang="ko-KR" altLang="en-US" dirty="0"/>
              <a:t>유연성</a:t>
            </a:r>
            <a:r>
              <a:rPr lang="en-US" altLang="ko-KR" dirty="0"/>
              <a:t>]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우리 비즈니스가 고관여 </a:t>
            </a:r>
            <a:r>
              <a:rPr lang="en-US" altLang="ko-KR" dirty="0"/>
              <a:t>B2B</a:t>
            </a:r>
            <a:r>
              <a:rPr lang="ko-KR" altLang="en-US" dirty="0"/>
              <a:t>인지</a:t>
            </a:r>
            <a:r>
              <a:rPr lang="en-US" altLang="ko-KR" dirty="0"/>
              <a:t>, B2C </a:t>
            </a:r>
            <a:r>
              <a:rPr lang="ko-KR" altLang="en-US" dirty="0" err="1"/>
              <a:t>앱인지에</a:t>
            </a:r>
            <a:r>
              <a:rPr lang="ko-KR" altLang="en-US" dirty="0"/>
              <a:t> 따라 </a:t>
            </a:r>
            <a:r>
              <a:rPr lang="en-US" altLang="ko-KR" dirty="0"/>
              <a:t>AIDA, AARRR, </a:t>
            </a:r>
            <a:r>
              <a:rPr lang="ko-KR" altLang="en-US" dirty="0" err="1"/>
              <a:t>플라이휠</a:t>
            </a:r>
            <a:r>
              <a:rPr lang="ko-KR" altLang="en-US" dirty="0"/>
              <a:t> 중 알맞은 전략 도면을 펼쳐라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[</a:t>
            </a:r>
            <a:r>
              <a:rPr lang="ko-KR" altLang="en-US" dirty="0"/>
              <a:t>본질</a:t>
            </a:r>
            <a:r>
              <a:rPr lang="en-US" altLang="ko-KR" dirty="0"/>
              <a:t>]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완벽하게 설계된 </a:t>
            </a:r>
            <a:r>
              <a:rPr lang="ko-KR" altLang="en-US" dirty="0" err="1"/>
              <a:t>퍼널도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조악한 제품</a:t>
            </a:r>
            <a:r>
              <a:rPr lang="en-US" altLang="ko-KR" dirty="0"/>
              <a:t>'</a:t>
            </a:r>
            <a:r>
              <a:rPr lang="ko-KR" altLang="en-US" dirty="0"/>
              <a:t>을 구원할 순 없다</a:t>
            </a:r>
            <a:r>
              <a:rPr lang="en-US" altLang="ko-KR" dirty="0"/>
              <a:t>. </a:t>
            </a:r>
            <a:r>
              <a:rPr lang="ko-KR" altLang="en-US" dirty="0"/>
              <a:t>데이터 분석의 끝은 항상 </a:t>
            </a:r>
            <a:r>
              <a:rPr lang="ko-KR" altLang="en-US" dirty="0" err="1"/>
              <a:t>제품력</a:t>
            </a:r>
            <a:r>
              <a:rPr lang="ko-KR" altLang="en-US" dirty="0"/>
              <a:t> 개선</a:t>
            </a:r>
            <a:r>
              <a:rPr lang="en-US" altLang="ko-KR" dirty="0"/>
              <a:t>(Product-Market Fit)</a:t>
            </a:r>
            <a:r>
              <a:rPr lang="ko-KR" altLang="en-US" dirty="0"/>
              <a:t>으로 이어져야 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데이터 </a:t>
            </a:r>
            <a:r>
              <a:rPr lang="ko-KR" altLang="en-US" sz="2300" dirty="0" err="1"/>
              <a:t>리터러시</a:t>
            </a:r>
            <a:r>
              <a:rPr lang="en-US" altLang="ko-KR" sz="2300" dirty="0"/>
              <a:t>(Data Literacy)</a:t>
            </a:r>
            <a:r>
              <a:rPr lang="ko-KR" altLang="en-US" sz="2300" dirty="0"/>
              <a:t>와 마케터의 태도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57666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퍼포먼스 마케팅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90744" y="271681"/>
            <a:ext cx="893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</p:spTree>
    <p:extLst>
      <p:ext uri="{BB962C8B-B14F-4D97-AF65-F5344CB8AC3E}">
        <p14:creationId xmlns:p14="http://schemas.microsoft.com/office/powerpoint/2010/main" val="2546734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지출</a:t>
            </a:r>
            <a:r>
              <a:rPr lang="en-US" altLang="ko-KR" dirty="0"/>
              <a:t>'</a:t>
            </a:r>
            <a:r>
              <a:rPr lang="ko-KR" altLang="en-US" dirty="0"/>
              <a:t>이 아닌 </a:t>
            </a:r>
            <a:r>
              <a:rPr lang="en-US" altLang="ko-KR" dirty="0"/>
              <a:t>'</a:t>
            </a:r>
            <a:r>
              <a:rPr lang="ko-KR" altLang="en-US" dirty="0"/>
              <a:t>투자</a:t>
            </a:r>
            <a:r>
              <a:rPr lang="en-US" altLang="ko-KR" dirty="0"/>
              <a:t>(Investment)'</a:t>
            </a:r>
            <a:r>
              <a:rPr lang="ko-KR" altLang="en-US" dirty="0"/>
              <a:t>의 관점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모든 활동의 수치화 및 실시간 최적화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전통적 마케팅</a:t>
            </a:r>
            <a:r>
              <a:rPr lang="en-US" altLang="ko-KR" dirty="0"/>
              <a:t>: '</a:t>
            </a:r>
            <a:r>
              <a:rPr lang="ko-KR" altLang="en-US" dirty="0"/>
              <a:t>얼마나 봤을까</a:t>
            </a:r>
            <a:r>
              <a:rPr lang="en-US" altLang="ko-KR" dirty="0"/>
              <a:t>?' (</a:t>
            </a:r>
            <a:r>
              <a:rPr lang="ko-KR" altLang="en-US" dirty="0"/>
              <a:t>추측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퍼포먼스 마케팅</a:t>
            </a:r>
            <a:r>
              <a:rPr lang="en-US" altLang="ko-KR" dirty="0"/>
              <a:t>: '</a:t>
            </a:r>
            <a:r>
              <a:rPr lang="ko-KR" altLang="en-US" dirty="0"/>
              <a:t>광고비 </a:t>
            </a:r>
            <a:r>
              <a:rPr lang="en-US" altLang="ko-KR" dirty="0"/>
              <a:t>1</a:t>
            </a:r>
            <a:r>
              <a:rPr lang="ko-KR" altLang="en-US" dirty="0"/>
              <a:t>원에 얼마 벌었나</a:t>
            </a:r>
            <a:r>
              <a:rPr lang="en-US" altLang="ko-KR" dirty="0"/>
              <a:t>?' (</a:t>
            </a:r>
            <a:r>
              <a:rPr lang="ko-KR" altLang="en-US" dirty="0"/>
              <a:t>확정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퍼포먼스 마케팅의 본질</a:t>
            </a:r>
          </a:p>
        </p:txBody>
      </p:sp>
    </p:spTree>
    <p:extLst>
      <p:ext uri="{BB962C8B-B14F-4D97-AF65-F5344CB8AC3E}">
        <p14:creationId xmlns:p14="http://schemas.microsoft.com/office/powerpoint/2010/main" val="4089232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CPM (Cost Per Mille): 1,000</a:t>
            </a:r>
            <a:r>
              <a:rPr lang="ko-KR" altLang="en-US" dirty="0"/>
              <a:t>회 노출 당 비용 </a:t>
            </a:r>
            <a:r>
              <a:rPr lang="en-US" altLang="ko-KR" dirty="0"/>
              <a:t>-&gt; </a:t>
            </a:r>
            <a:r>
              <a:rPr lang="ko-KR" altLang="en-US" dirty="0"/>
              <a:t>매체의 가격표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CPC (Cost Per Click): 1</a:t>
            </a:r>
            <a:r>
              <a:rPr lang="ko-KR" altLang="en-US" dirty="0"/>
              <a:t>회 클릭당 비용 </a:t>
            </a:r>
            <a:r>
              <a:rPr lang="en-US" altLang="ko-KR" dirty="0"/>
              <a:t>-&gt; </a:t>
            </a:r>
            <a:r>
              <a:rPr lang="ko-KR" altLang="en-US" dirty="0"/>
              <a:t>유입의 효율성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CTR (Click Through Rate): </a:t>
            </a:r>
            <a:r>
              <a:rPr lang="ko-KR" altLang="en-US" dirty="0" err="1"/>
              <a:t>클릭률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클릭</a:t>
            </a:r>
            <a:r>
              <a:rPr lang="en-US" altLang="ko-KR" dirty="0"/>
              <a:t>/</a:t>
            </a:r>
            <a:r>
              <a:rPr lang="ko-KR" altLang="en-US" dirty="0"/>
              <a:t>노출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CTR</a:t>
            </a:r>
            <a:r>
              <a:rPr lang="ko-KR" altLang="en-US" dirty="0"/>
              <a:t>이 낮다 </a:t>
            </a:r>
            <a:r>
              <a:rPr lang="en-US" altLang="ko-KR" dirty="0"/>
              <a:t>= </a:t>
            </a:r>
            <a:r>
              <a:rPr lang="ko-KR" altLang="en-US" dirty="0"/>
              <a:t>광고 소재가 </a:t>
            </a:r>
            <a:r>
              <a:rPr lang="en-US" altLang="ko-KR" dirty="0"/>
              <a:t>'</a:t>
            </a:r>
            <a:r>
              <a:rPr lang="ko-KR" altLang="en-US" dirty="0"/>
              <a:t>노잼</a:t>
            </a:r>
            <a:r>
              <a:rPr lang="en-US" altLang="ko-KR" dirty="0"/>
              <a:t>'</a:t>
            </a:r>
            <a:r>
              <a:rPr lang="ko-KR" altLang="en-US" dirty="0"/>
              <a:t>이다 </a:t>
            </a:r>
            <a:r>
              <a:rPr lang="en-US" altLang="ko-KR" dirty="0"/>
              <a:t>(Creative </a:t>
            </a:r>
            <a:r>
              <a:rPr lang="ko-KR" altLang="en-US" dirty="0"/>
              <a:t>개선 시급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마케터의 알파벳</a:t>
            </a:r>
            <a:r>
              <a:rPr lang="en-US" altLang="ko-KR" sz="2300" dirty="0"/>
              <a:t> - </a:t>
            </a:r>
            <a:r>
              <a:rPr lang="ko-KR" altLang="en-US" sz="2300" dirty="0"/>
              <a:t>노출과 유입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3006632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CVR (Conversion Rate): </a:t>
            </a:r>
            <a:r>
              <a:rPr lang="ko-KR" altLang="en-US" dirty="0" err="1"/>
              <a:t>전환율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전환</a:t>
            </a:r>
            <a:r>
              <a:rPr lang="en-US" altLang="ko-KR" dirty="0"/>
              <a:t>/</a:t>
            </a:r>
            <a:r>
              <a:rPr lang="ko-KR" altLang="en-US" dirty="0"/>
              <a:t>클릭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CVR</a:t>
            </a:r>
            <a:r>
              <a:rPr lang="ko-KR" altLang="en-US" dirty="0"/>
              <a:t>이 낮다 </a:t>
            </a:r>
            <a:r>
              <a:rPr lang="en-US" altLang="ko-KR" dirty="0"/>
              <a:t>= </a:t>
            </a:r>
            <a:r>
              <a:rPr lang="ko-KR" altLang="en-US" dirty="0"/>
              <a:t>랜딩페이지나 </a:t>
            </a:r>
            <a:r>
              <a:rPr lang="ko-KR" altLang="en-US" dirty="0" err="1"/>
              <a:t>제품력이</a:t>
            </a:r>
            <a:r>
              <a:rPr lang="ko-KR" altLang="en-US" dirty="0"/>
              <a:t> 부족하다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CPA (Cost Per Action): </a:t>
            </a:r>
            <a:r>
              <a:rPr lang="ko-KR" altLang="en-US" dirty="0"/>
              <a:t>고객 </a:t>
            </a:r>
            <a:r>
              <a:rPr lang="en-US" altLang="ko-KR" dirty="0"/>
              <a:t>1</a:t>
            </a:r>
            <a:r>
              <a:rPr lang="ko-KR" altLang="en-US" dirty="0"/>
              <a:t>명 획득 비용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신규 고객 </a:t>
            </a:r>
            <a:r>
              <a:rPr lang="en-US" altLang="ko-KR" dirty="0"/>
              <a:t>1</a:t>
            </a:r>
            <a:r>
              <a:rPr lang="ko-KR" altLang="en-US" dirty="0"/>
              <a:t>명을 데려오는데 드는 순수 비용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3. </a:t>
            </a:r>
            <a:r>
              <a:rPr lang="ko-KR" altLang="en-US" sz="2300" dirty="0"/>
              <a:t>마케터의 알파벳</a:t>
            </a:r>
            <a:r>
              <a:rPr lang="en-US" altLang="ko-KR" sz="2300" dirty="0"/>
              <a:t> - </a:t>
            </a:r>
            <a:r>
              <a:rPr lang="ko-KR" altLang="en-US" sz="2300" dirty="0"/>
              <a:t>성과와 획득</a:t>
            </a:r>
          </a:p>
        </p:txBody>
      </p:sp>
    </p:spTree>
    <p:extLst>
      <p:ext uri="{BB962C8B-B14F-4D97-AF65-F5344CB8AC3E}">
        <p14:creationId xmlns:p14="http://schemas.microsoft.com/office/powerpoint/2010/main" val="3096640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ROAS (Return On Ad Spend): </a:t>
            </a:r>
            <a:r>
              <a:rPr lang="ko-KR" altLang="en-US" dirty="0"/>
              <a:t>광고비 대비 매출액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공식</a:t>
            </a:r>
            <a:r>
              <a:rPr lang="en-US" altLang="ko-KR" dirty="0"/>
              <a:t>: (</a:t>
            </a:r>
            <a:r>
              <a:rPr lang="ko-KR" altLang="en-US" dirty="0"/>
              <a:t>매출액 </a:t>
            </a:r>
            <a:r>
              <a:rPr lang="en-US" altLang="ko-KR" dirty="0"/>
              <a:t>/ </a:t>
            </a:r>
            <a:r>
              <a:rPr lang="ko-KR" altLang="en-US" dirty="0"/>
              <a:t>광고비</a:t>
            </a:r>
            <a:r>
              <a:rPr lang="en-US" altLang="ko-KR" dirty="0"/>
              <a:t>) x 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마케터의 </a:t>
            </a:r>
            <a:r>
              <a:rPr lang="en-US" altLang="ko-KR" dirty="0"/>
              <a:t>1</a:t>
            </a:r>
            <a:r>
              <a:rPr lang="ko-KR" altLang="en-US" dirty="0"/>
              <a:t>차 성적표이자 매체 운영의 나침반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주의</a:t>
            </a:r>
            <a:r>
              <a:rPr lang="en-US" altLang="ko-KR" dirty="0"/>
              <a:t>: ROAS</a:t>
            </a:r>
            <a:r>
              <a:rPr lang="ko-KR" altLang="en-US" dirty="0"/>
              <a:t>가 높다고 반드시 이익이 남는 것은 아니다</a:t>
            </a:r>
            <a:r>
              <a:rPr lang="en-US" altLang="ko-KR" dirty="0"/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수익성 판단의 절대 기준</a:t>
            </a:r>
            <a:r>
              <a:rPr lang="en-US" altLang="ko-KR" sz="2300" dirty="0"/>
              <a:t>: ROAS</a:t>
            </a:r>
          </a:p>
        </p:txBody>
      </p:sp>
    </p:spTree>
    <p:extLst>
      <p:ext uri="{BB962C8B-B14F-4D97-AF65-F5344CB8AC3E}">
        <p14:creationId xmlns:p14="http://schemas.microsoft.com/office/powerpoint/2010/main" val="1226616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ROI (Return On Investment): </a:t>
            </a:r>
            <a:r>
              <a:rPr lang="ko-KR" altLang="en-US" dirty="0"/>
              <a:t>투자 대비 순이익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원가</a:t>
            </a:r>
            <a:r>
              <a:rPr lang="en-US" altLang="ko-KR" dirty="0"/>
              <a:t>, </a:t>
            </a:r>
            <a:r>
              <a:rPr lang="ko-KR" altLang="en-US" dirty="0"/>
              <a:t>인건비</a:t>
            </a:r>
            <a:r>
              <a:rPr lang="en-US" altLang="ko-KR" dirty="0"/>
              <a:t>, </a:t>
            </a:r>
            <a:r>
              <a:rPr lang="ko-KR" altLang="en-US" dirty="0"/>
              <a:t>운영비를 모두 고려한 진짜 실력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면접 </a:t>
            </a:r>
            <a:r>
              <a:rPr lang="ko-KR" altLang="en-US" dirty="0" err="1"/>
              <a:t>필살기</a:t>
            </a:r>
            <a:r>
              <a:rPr lang="en-US" altLang="ko-KR" dirty="0"/>
              <a:t>: "</a:t>
            </a:r>
            <a:r>
              <a:rPr lang="ko-KR" altLang="en-US" dirty="0"/>
              <a:t>저는 </a:t>
            </a:r>
            <a:r>
              <a:rPr lang="ko-KR" altLang="en-US" dirty="0" err="1"/>
              <a:t>로아스</a:t>
            </a:r>
            <a:r>
              <a:rPr lang="en-US" altLang="ko-KR" dirty="0"/>
              <a:t>(ROAS)</a:t>
            </a:r>
            <a:r>
              <a:rPr lang="ko-KR" altLang="en-US" dirty="0"/>
              <a:t>뿐만 아니라</a:t>
            </a:r>
            <a:r>
              <a:rPr lang="en-US" altLang="ko-KR" dirty="0"/>
              <a:t>, </a:t>
            </a:r>
            <a:r>
              <a:rPr lang="ko-KR" altLang="en-US" dirty="0"/>
              <a:t>회사의 영업이익</a:t>
            </a:r>
            <a:r>
              <a:rPr lang="en-US" altLang="ko-KR" dirty="0"/>
              <a:t>(ROI)</a:t>
            </a:r>
            <a:r>
              <a:rPr lang="ko-KR" altLang="en-US" dirty="0"/>
              <a:t>을 고려하여 예산을 운영합니다</a:t>
            </a:r>
            <a:r>
              <a:rPr lang="en-US" altLang="ko-KR" dirty="0"/>
              <a:t>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재무적 시야의 완성</a:t>
            </a:r>
            <a:r>
              <a:rPr lang="en-US" altLang="ko-KR" sz="2300" dirty="0"/>
              <a:t>: ROI</a:t>
            </a:r>
          </a:p>
        </p:txBody>
      </p:sp>
    </p:spTree>
    <p:extLst>
      <p:ext uri="{BB962C8B-B14F-4D97-AF65-F5344CB8AC3E}">
        <p14:creationId xmlns:p14="http://schemas.microsoft.com/office/powerpoint/2010/main" val="1547765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</a:rPr>
              <a:t>A/B Test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90744" y="271681"/>
            <a:ext cx="893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</p:spTree>
    <p:extLst>
      <p:ext uri="{BB962C8B-B14F-4D97-AF65-F5344CB8AC3E}">
        <p14:creationId xmlns:p14="http://schemas.microsoft.com/office/powerpoint/2010/main" val="4001836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HiPPO</a:t>
            </a:r>
            <a:r>
              <a:rPr lang="en-US" altLang="ko-KR" dirty="0"/>
              <a:t> (Highest Paid Person's Opinion): </a:t>
            </a:r>
            <a:r>
              <a:rPr lang="ko-KR" altLang="en-US" dirty="0"/>
              <a:t>목소리 큰 상사의 직관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주관적 의견이 아닌 </a:t>
            </a:r>
            <a:r>
              <a:rPr lang="en-US" altLang="ko-KR" dirty="0"/>
              <a:t>'</a:t>
            </a:r>
            <a:r>
              <a:rPr lang="ko-KR" altLang="en-US" dirty="0"/>
              <a:t>고객의 실제 행동</a:t>
            </a:r>
            <a:r>
              <a:rPr lang="en-US" altLang="ko-KR" dirty="0"/>
              <a:t>'</a:t>
            </a:r>
            <a:r>
              <a:rPr lang="ko-KR" altLang="en-US" dirty="0"/>
              <a:t>으로 정답을 결정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리스크 관리</a:t>
            </a:r>
            <a:r>
              <a:rPr lang="en-US" altLang="ko-KR" dirty="0"/>
              <a:t>: </a:t>
            </a:r>
            <a:r>
              <a:rPr lang="ko-KR" altLang="en-US" dirty="0"/>
              <a:t>전면 개편 전</a:t>
            </a:r>
            <a:r>
              <a:rPr lang="en-US" altLang="ko-KR" dirty="0"/>
              <a:t>, </a:t>
            </a:r>
            <a:r>
              <a:rPr lang="ko-KR" altLang="en-US" dirty="0"/>
              <a:t>소수 유저에게 먼저 테스트하여 대참사 방지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A/B </a:t>
            </a:r>
            <a:r>
              <a:rPr lang="ko-KR" altLang="en-US" sz="2300" dirty="0"/>
              <a:t>테스트의 본질</a:t>
            </a:r>
            <a:r>
              <a:rPr lang="en-US" altLang="ko-KR" sz="2300" dirty="0"/>
              <a:t>: </a:t>
            </a:r>
            <a:r>
              <a:rPr lang="en-US" altLang="ko-KR" sz="2300" dirty="0" err="1"/>
              <a:t>HiPPO</a:t>
            </a:r>
            <a:r>
              <a:rPr lang="ko-KR" altLang="en-US" sz="2300" dirty="0"/>
              <a:t>를 이기는 데이터</a:t>
            </a:r>
          </a:p>
        </p:txBody>
      </p:sp>
    </p:spTree>
    <p:extLst>
      <p:ext uri="{BB962C8B-B14F-4D97-AF65-F5344CB8AC3E}">
        <p14:creationId xmlns:p14="http://schemas.microsoft.com/office/powerpoint/2010/main" val="4077950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If (</a:t>
            </a:r>
            <a:r>
              <a:rPr lang="ko-KR" altLang="en-US" dirty="0"/>
              <a:t>만약 </a:t>
            </a:r>
            <a:r>
              <a:rPr lang="en-US" altLang="ko-KR" dirty="0"/>
              <a:t>~</a:t>
            </a:r>
            <a:r>
              <a:rPr lang="ko-KR" altLang="en-US" dirty="0"/>
              <a:t>한다면</a:t>
            </a:r>
            <a:r>
              <a:rPr lang="en-US" altLang="ko-KR" dirty="0"/>
              <a:t>): </a:t>
            </a:r>
            <a:r>
              <a:rPr lang="ko-KR" altLang="en-US" dirty="0"/>
              <a:t>실험의 구체적 변경 사항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Then (</a:t>
            </a:r>
            <a:r>
              <a:rPr lang="ko-KR" altLang="en-US" dirty="0"/>
              <a:t>결과적으로 </a:t>
            </a:r>
            <a:r>
              <a:rPr lang="en-US" altLang="ko-KR" dirty="0"/>
              <a:t>~</a:t>
            </a:r>
            <a:r>
              <a:rPr lang="ko-KR" altLang="en-US" dirty="0"/>
              <a:t>될 것이다</a:t>
            </a:r>
            <a:r>
              <a:rPr lang="en-US" altLang="ko-KR" dirty="0"/>
              <a:t>): </a:t>
            </a:r>
            <a:r>
              <a:rPr lang="ko-KR" altLang="en-US" dirty="0"/>
              <a:t>기대하는 </a:t>
            </a:r>
            <a:r>
              <a:rPr lang="en-US" altLang="ko-KR" dirty="0"/>
              <a:t>KPI </a:t>
            </a:r>
            <a:r>
              <a:rPr lang="ko-KR" altLang="en-US" dirty="0"/>
              <a:t>수치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Because (</a:t>
            </a:r>
            <a:r>
              <a:rPr lang="ko-KR" altLang="en-US" dirty="0"/>
              <a:t>왜냐하면</a:t>
            </a:r>
            <a:r>
              <a:rPr lang="en-US" altLang="ko-KR" dirty="0"/>
              <a:t>): </a:t>
            </a:r>
            <a:r>
              <a:rPr lang="ko-KR" altLang="en-US" dirty="0"/>
              <a:t>비즈니스적</a:t>
            </a:r>
            <a:r>
              <a:rPr lang="en-US" altLang="ko-KR" dirty="0"/>
              <a:t>/</a:t>
            </a:r>
            <a:r>
              <a:rPr lang="ko-KR" altLang="en-US" dirty="0"/>
              <a:t>심리학적 근거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가설은 단순한 추측이 아니라 </a:t>
            </a:r>
            <a:r>
              <a:rPr lang="en-US" altLang="ko-KR" dirty="0"/>
              <a:t>'</a:t>
            </a:r>
            <a:r>
              <a:rPr lang="ko-KR" altLang="en-US" dirty="0"/>
              <a:t>논리적인 비즈니스 임팩트 예측</a:t>
            </a:r>
            <a:r>
              <a:rPr lang="en-US" altLang="ko-KR" dirty="0"/>
              <a:t>'</a:t>
            </a:r>
            <a:r>
              <a:rPr lang="ko-KR" altLang="en-US" dirty="0"/>
              <a:t>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가설 설정의 기술</a:t>
            </a:r>
            <a:r>
              <a:rPr lang="en-US" altLang="ko-KR" sz="2300" dirty="0"/>
              <a:t>: IF-THEN-BECAUSE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261006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목표 설정</a:t>
            </a:r>
            <a:r>
              <a:rPr lang="en-US" altLang="ko-KR" dirty="0"/>
              <a:t>: </a:t>
            </a:r>
            <a:r>
              <a:rPr lang="ko-KR" altLang="en-US" dirty="0"/>
              <a:t>무엇을 개선할 것인가</a:t>
            </a:r>
            <a:r>
              <a:rPr lang="en-US" altLang="ko-KR" dirty="0"/>
              <a:t>?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결제 </a:t>
            </a:r>
            <a:r>
              <a:rPr lang="ko-KR" altLang="en-US" dirty="0" err="1"/>
              <a:t>전환율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가설 수립</a:t>
            </a:r>
            <a:r>
              <a:rPr lang="en-US" altLang="ko-KR" dirty="0"/>
              <a:t>: </a:t>
            </a:r>
            <a:r>
              <a:rPr lang="ko-KR" altLang="en-US" dirty="0"/>
              <a:t>원인</a:t>
            </a:r>
            <a:r>
              <a:rPr lang="en-US" altLang="ko-KR" dirty="0"/>
              <a:t>-</a:t>
            </a:r>
            <a:r>
              <a:rPr lang="ko-KR" altLang="en-US" dirty="0"/>
              <a:t>결과</a:t>
            </a:r>
            <a:r>
              <a:rPr lang="en-US" altLang="ko-KR" dirty="0"/>
              <a:t>-</a:t>
            </a:r>
            <a:r>
              <a:rPr lang="ko-KR" altLang="en-US" dirty="0"/>
              <a:t>근거의 명확한 문장화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실험 설계</a:t>
            </a:r>
            <a:r>
              <a:rPr lang="en-US" altLang="ko-KR" dirty="0"/>
              <a:t>: </a:t>
            </a:r>
            <a:r>
              <a:rPr lang="ko-KR" altLang="en-US" dirty="0"/>
              <a:t>유저 무작위 배정 및 변수 통제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실험 실행</a:t>
            </a:r>
            <a:r>
              <a:rPr lang="en-US" altLang="ko-KR" dirty="0"/>
              <a:t>: </a:t>
            </a:r>
            <a:r>
              <a:rPr lang="ko-KR" altLang="en-US" dirty="0"/>
              <a:t>통계적 </a:t>
            </a:r>
            <a:r>
              <a:rPr lang="ko-KR" altLang="en-US" dirty="0" err="1"/>
              <a:t>유의미성이</a:t>
            </a:r>
            <a:r>
              <a:rPr lang="ko-KR" altLang="en-US" dirty="0"/>
              <a:t> 확보될 때까지 대기</a:t>
            </a:r>
            <a:r>
              <a:rPr lang="en-US" altLang="ko-KR" dirty="0"/>
              <a:t>(</a:t>
            </a:r>
            <a:r>
              <a:rPr lang="ko-KR" altLang="en-US" dirty="0"/>
              <a:t>최소 </a:t>
            </a:r>
            <a:r>
              <a:rPr lang="en-US" altLang="ko-KR" dirty="0"/>
              <a:t>7~14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결과 분석</a:t>
            </a:r>
            <a:r>
              <a:rPr lang="en-US" altLang="ko-KR" dirty="0"/>
              <a:t>: p-value </a:t>
            </a:r>
            <a:r>
              <a:rPr lang="ko-KR" altLang="en-US" dirty="0"/>
              <a:t>확인 및 비즈니스 의사결정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A/B </a:t>
            </a:r>
            <a:r>
              <a:rPr lang="ko-KR" altLang="en-US" sz="2300" dirty="0"/>
              <a:t>테스트 </a:t>
            </a:r>
            <a:r>
              <a:rPr lang="en-US" altLang="ko-KR" sz="2300" dirty="0"/>
              <a:t>5</a:t>
            </a:r>
            <a:r>
              <a:rPr lang="ko-KR" altLang="en-US" sz="2300" dirty="0"/>
              <a:t>단계 프로세스</a:t>
            </a:r>
          </a:p>
        </p:txBody>
      </p:sp>
    </p:spTree>
    <p:extLst>
      <p:ext uri="{BB962C8B-B14F-4D97-AF65-F5344CB8AC3E}">
        <p14:creationId xmlns:p14="http://schemas.microsoft.com/office/powerpoint/2010/main" val="1158925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p-value &lt; 0.05: </a:t>
            </a:r>
            <a:r>
              <a:rPr lang="ko-KR" altLang="en-US" dirty="0"/>
              <a:t>결과가 우연일 확률이 </a:t>
            </a:r>
            <a:r>
              <a:rPr lang="en-US" altLang="ko-KR" dirty="0"/>
              <a:t>5% </a:t>
            </a:r>
            <a:r>
              <a:rPr lang="ko-KR" altLang="en-US" dirty="0"/>
              <a:t>미만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, '</a:t>
            </a:r>
            <a:r>
              <a:rPr lang="ko-KR" altLang="en-US" dirty="0"/>
              <a:t>이건 운이 아니라 진짜 실력</a:t>
            </a:r>
            <a:r>
              <a:rPr lang="en-US" altLang="ko-KR" dirty="0"/>
              <a:t>(B</a:t>
            </a:r>
            <a:r>
              <a:rPr lang="ko-KR" altLang="en-US" dirty="0"/>
              <a:t>안의 효과</a:t>
            </a:r>
            <a:r>
              <a:rPr lang="en-US" altLang="ko-KR" dirty="0"/>
              <a:t>)</a:t>
            </a:r>
            <a:r>
              <a:rPr lang="ko-KR" altLang="en-US" dirty="0"/>
              <a:t>으로 이긴 거야</a:t>
            </a:r>
            <a:r>
              <a:rPr lang="en-US" altLang="ko-KR" dirty="0"/>
              <a:t>!’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MDE (</a:t>
            </a:r>
            <a:r>
              <a:rPr lang="ko-KR" altLang="en-US" dirty="0"/>
              <a:t>최소 감지 효과</a:t>
            </a:r>
            <a:r>
              <a:rPr lang="en-US" altLang="ko-KR" dirty="0"/>
              <a:t>): </a:t>
            </a:r>
            <a:r>
              <a:rPr lang="ko-KR" altLang="en-US" dirty="0"/>
              <a:t>비즈니스적으로 의미 있는 최소한의 변화 폭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통계적 유의성</a:t>
            </a:r>
            <a:r>
              <a:rPr lang="en-US" altLang="ko-KR" sz="2300" dirty="0"/>
              <a:t>: p-value</a:t>
            </a:r>
            <a:r>
              <a:rPr lang="ko-KR" altLang="en-US" sz="2300" dirty="0"/>
              <a:t>와 신뢰도</a:t>
            </a:r>
          </a:p>
        </p:txBody>
      </p:sp>
    </p:spTree>
    <p:extLst>
      <p:ext uri="{BB962C8B-B14F-4D97-AF65-F5344CB8AC3E}">
        <p14:creationId xmlns:p14="http://schemas.microsoft.com/office/powerpoint/2010/main" val="1758779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종 오류</a:t>
            </a:r>
            <a:r>
              <a:rPr lang="en-US" altLang="ko-KR" dirty="0"/>
              <a:t>(α):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효과가 없는데 있다고 판단함 </a:t>
            </a:r>
            <a:r>
              <a:rPr lang="en-US" altLang="ko-KR" dirty="0"/>
              <a:t>(</a:t>
            </a:r>
            <a:r>
              <a:rPr lang="ko-KR" altLang="en-US" dirty="0"/>
              <a:t>꽝인데 당첨이라 외치는 실수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종 오류</a:t>
            </a:r>
            <a:r>
              <a:rPr lang="en-US" altLang="ko-KR" dirty="0"/>
              <a:t>(β):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효과가 있는데 없다고 판단함 </a:t>
            </a:r>
            <a:r>
              <a:rPr lang="en-US" altLang="ko-KR" dirty="0"/>
              <a:t>(</a:t>
            </a:r>
            <a:r>
              <a:rPr lang="ko-KR" altLang="en-US" dirty="0"/>
              <a:t>금광을 돌이라 버리는 실수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검정력</a:t>
            </a:r>
            <a:r>
              <a:rPr lang="ko-KR" altLang="en-US" dirty="0"/>
              <a:t> </a:t>
            </a:r>
            <a:r>
              <a:rPr lang="en-US" altLang="ko-KR" dirty="0"/>
              <a:t>(Statistical Power):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진짜 효과를 제대로 찾아낼 확률 </a:t>
            </a:r>
            <a:r>
              <a:rPr lang="en-US" altLang="ko-KR" dirty="0"/>
              <a:t>(</a:t>
            </a:r>
            <a:r>
              <a:rPr lang="ko-KR" altLang="en-US" dirty="0"/>
              <a:t>보통 </a:t>
            </a:r>
            <a:r>
              <a:rPr lang="en-US" altLang="ko-KR" dirty="0"/>
              <a:t>80% </a:t>
            </a:r>
            <a:r>
              <a:rPr lang="ko-KR" altLang="en-US" dirty="0"/>
              <a:t>목표</a:t>
            </a:r>
            <a:r>
              <a:rPr lang="en-US" altLang="ko-KR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통계적 오류의 두 얼굴 </a:t>
            </a:r>
            <a:r>
              <a:rPr lang="en-US" altLang="ko-KR" sz="2300" dirty="0"/>
              <a:t>(1</a:t>
            </a:r>
            <a:r>
              <a:rPr lang="ko-KR" altLang="en-US" sz="2300" dirty="0"/>
              <a:t>종 </a:t>
            </a:r>
            <a:r>
              <a:rPr lang="en-US" altLang="ko-KR" sz="2300" dirty="0"/>
              <a:t>&amp; 2</a:t>
            </a:r>
            <a:r>
              <a:rPr lang="ko-KR" altLang="en-US" sz="2300" dirty="0"/>
              <a:t>종 오류</a:t>
            </a:r>
            <a:r>
              <a:rPr lang="en-US" altLang="ko-KR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8639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신기 효과 </a:t>
            </a:r>
            <a:r>
              <a:rPr lang="en-US" altLang="ko-KR" dirty="0"/>
              <a:t>(Novelty Effect):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새로워서 일시적으로 </a:t>
            </a:r>
            <a:r>
              <a:rPr lang="ko-KR" altLang="en-US" dirty="0" err="1"/>
              <a:t>클릭률이</a:t>
            </a:r>
            <a:r>
              <a:rPr lang="ko-KR" altLang="en-US" dirty="0"/>
              <a:t> 오르는 현상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주효과</a:t>
            </a:r>
            <a:r>
              <a:rPr lang="ko-KR" altLang="en-US" dirty="0"/>
              <a:t> </a:t>
            </a:r>
            <a:r>
              <a:rPr lang="en-US" altLang="ko-KR" dirty="0"/>
              <a:t>(Primacy Effect):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익숙함 때문에 초기에 변화를 거부하는 현상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해결</a:t>
            </a:r>
            <a:r>
              <a:rPr lang="en-US" altLang="ko-KR" dirty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유저의 생활 주기</a:t>
            </a:r>
            <a:r>
              <a:rPr lang="en-US" altLang="ko-KR" dirty="0"/>
              <a:t>(</a:t>
            </a:r>
            <a:r>
              <a:rPr lang="ko-KR" altLang="en-US" dirty="0"/>
              <a:t>최소 </a:t>
            </a:r>
            <a:r>
              <a:rPr lang="en-US" altLang="ko-KR" dirty="0"/>
              <a:t>1</a:t>
            </a:r>
            <a:r>
              <a:rPr lang="ko-KR" altLang="en-US" dirty="0"/>
              <a:t>주일</a:t>
            </a:r>
            <a:r>
              <a:rPr lang="en-US" altLang="ko-KR" dirty="0"/>
              <a:t>)</a:t>
            </a:r>
            <a:r>
              <a:rPr lang="ko-KR" altLang="en-US" dirty="0"/>
              <a:t>를 고려해 데이터의 노이즈를 제거해야 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심리학적 변수</a:t>
            </a:r>
            <a:r>
              <a:rPr lang="en-US" altLang="ko-KR" sz="2300" dirty="0"/>
              <a:t>: </a:t>
            </a:r>
            <a:r>
              <a:rPr lang="ko-KR" altLang="en-US" sz="2300" dirty="0"/>
              <a:t>신기 효과와 </a:t>
            </a:r>
            <a:r>
              <a:rPr lang="ko-KR" altLang="en-US" sz="2300" dirty="0" err="1"/>
              <a:t>주효과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397649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North Star Metric (</a:t>
            </a:r>
            <a:r>
              <a:rPr lang="ko-KR" altLang="en-US" dirty="0"/>
              <a:t>북극성 지표</a:t>
            </a:r>
            <a:r>
              <a:rPr lang="en-US" altLang="ko-KR" dirty="0"/>
              <a:t>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실험의 직접적 목표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전환율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Guardrail Metrics (</a:t>
            </a:r>
            <a:r>
              <a:rPr lang="ko-KR" altLang="en-US" dirty="0"/>
              <a:t>가드레일 지표</a:t>
            </a:r>
            <a:r>
              <a:rPr lang="en-US" altLang="ko-KR" dirty="0"/>
              <a:t>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실험 중 망가지면 안 되는 지표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탈퇴율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분석가는 나무</a:t>
            </a:r>
            <a:r>
              <a:rPr lang="en-US" altLang="ko-KR" dirty="0"/>
              <a:t>(</a:t>
            </a:r>
            <a:r>
              <a:rPr lang="ko-KR" altLang="en-US" dirty="0" err="1"/>
              <a:t>클릭률</a:t>
            </a:r>
            <a:r>
              <a:rPr lang="en-US" altLang="ko-KR" dirty="0"/>
              <a:t>)</a:t>
            </a:r>
            <a:r>
              <a:rPr lang="ko-KR" altLang="en-US" dirty="0"/>
              <a:t>가 아니라 숲</a:t>
            </a:r>
            <a:r>
              <a:rPr lang="en-US" altLang="ko-KR" dirty="0"/>
              <a:t>(</a:t>
            </a:r>
            <a:r>
              <a:rPr lang="ko-KR" altLang="en-US" dirty="0"/>
              <a:t>전체 비즈니스 건강</a:t>
            </a:r>
            <a:r>
              <a:rPr lang="en-US" altLang="ko-KR" dirty="0"/>
              <a:t>)</a:t>
            </a:r>
            <a:r>
              <a:rPr lang="ko-KR" altLang="en-US" dirty="0"/>
              <a:t>을 봐야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지표의 계층 구조</a:t>
            </a:r>
            <a:r>
              <a:rPr lang="en-US" altLang="ko-KR" sz="2300" dirty="0"/>
              <a:t>: </a:t>
            </a:r>
            <a:r>
              <a:rPr lang="ko-KR" altLang="en-US" sz="2300" dirty="0"/>
              <a:t>가드레일 지표</a:t>
            </a:r>
          </a:p>
        </p:txBody>
      </p:sp>
    </p:spTree>
    <p:extLst>
      <p:ext uri="{BB962C8B-B14F-4D97-AF65-F5344CB8AC3E}">
        <p14:creationId xmlns:p14="http://schemas.microsoft.com/office/powerpoint/2010/main" val="561023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그로스</a:t>
            </a:r>
            <a:r>
              <a:rPr lang="ko-KR" altLang="en-US" sz="3500" b="1" dirty="0">
                <a:solidFill>
                  <a:schemeClr val="bg1"/>
                </a:solidFill>
              </a:rPr>
              <a:t> 전략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90744" y="271681"/>
            <a:ext cx="8931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</p:spTree>
    <p:extLst>
      <p:ext uri="{BB962C8B-B14F-4D97-AF65-F5344CB8AC3E}">
        <p14:creationId xmlns:p14="http://schemas.microsoft.com/office/powerpoint/2010/main" val="24207644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리텐션은</a:t>
            </a:r>
            <a:r>
              <a:rPr lang="ko-KR" altLang="en-US" dirty="0"/>
              <a:t> 서비스의 </a:t>
            </a:r>
            <a:r>
              <a:rPr lang="en-US" altLang="ko-KR" dirty="0"/>
              <a:t>'</a:t>
            </a:r>
            <a:r>
              <a:rPr lang="ko-KR" altLang="en-US" dirty="0" err="1"/>
              <a:t>제품력</a:t>
            </a:r>
            <a:r>
              <a:rPr lang="en-US" altLang="ko-KR" dirty="0"/>
              <a:t>(Product-Market Fit)'</a:t>
            </a:r>
            <a:r>
              <a:rPr lang="ko-KR" altLang="en-US" dirty="0"/>
              <a:t>을 보여주는 가장 정직한 지표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신규 유입</a:t>
            </a:r>
            <a:r>
              <a:rPr lang="en-US" altLang="ko-KR" dirty="0"/>
              <a:t>(Acquisition)</a:t>
            </a:r>
            <a:r>
              <a:rPr lang="ko-KR" altLang="en-US" dirty="0"/>
              <a:t>보다 유지</a:t>
            </a:r>
            <a:r>
              <a:rPr lang="en-US" altLang="ko-KR" dirty="0"/>
              <a:t>(Retention)</a:t>
            </a:r>
            <a:r>
              <a:rPr lang="ko-KR" altLang="en-US" dirty="0"/>
              <a:t>가 중요한 이유</a:t>
            </a:r>
            <a:r>
              <a:rPr lang="en-US" altLang="ko-KR" dirty="0"/>
              <a:t>: </a:t>
            </a:r>
            <a:r>
              <a:rPr lang="ko-KR" altLang="en-US" dirty="0"/>
              <a:t>획득 비용의 효율성 때문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아하 </a:t>
            </a:r>
            <a:r>
              <a:rPr lang="ko-KR" altLang="en-US" dirty="0" err="1"/>
              <a:t>모먼트</a:t>
            </a:r>
            <a:r>
              <a:rPr lang="en-US" altLang="ko-KR" dirty="0"/>
              <a:t>(A-ha Moment)': </a:t>
            </a:r>
            <a:r>
              <a:rPr lang="ko-KR" altLang="en-US" dirty="0"/>
              <a:t>유저가 우리 서비스의 핵심 가치를 느끼는 결정적 순간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Retention: </a:t>
            </a:r>
            <a:r>
              <a:rPr lang="ko-KR" altLang="en-US" sz="2300" dirty="0"/>
              <a:t>밑 빠진 독에 물 붓지 않기</a:t>
            </a:r>
          </a:p>
        </p:txBody>
      </p:sp>
    </p:spTree>
    <p:extLst>
      <p:ext uri="{BB962C8B-B14F-4D97-AF65-F5344CB8AC3E}">
        <p14:creationId xmlns:p14="http://schemas.microsoft.com/office/powerpoint/2010/main" val="1903476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특정 시기나 공통된 경험을 공유하는 집단으로 나누어 행동을 추적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획득 코호트</a:t>
            </a:r>
            <a:r>
              <a:rPr lang="en-US" altLang="ko-KR" dirty="0"/>
              <a:t>: </a:t>
            </a:r>
            <a:r>
              <a:rPr lang="ko-KR" altLang="en-US" dirty="0"/>
              <a:t>가입 </a:t>
            </a:r>
            <a:r>
              <a:rPr lang="ko-KR" altLang="en-US" dirty="0" err="1"/>
              <a:t>시점별</a:t>
            </a:r>
            <a:r>
              <a:rPr lang="ko-KR" altLang="en-US" dirty="0"/>
              <a:t> 유저 </a:t>
            </a:r>
            <a:r>
              <a:rPr lang="ko-KR" altLang="en-US" dirty="0" err="1"/>
              <a:t>잔존율</a:t>
            </a:r>
            <a:r>
              <a:rPr lang="ko-KR" altLang="en-US" dirty="0"/>
              <a:t> 비교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행동 코호트</a:t>
            </a:r>
            <a:r>
              <a:rPr lang="en-US" altLang="ko-KR" dirty="0"/>
              <a:t>: </a:t>
            </a:r>
            <a:r>
              <a:rPr lang="ko-KR" altLang="en-US" dirty="0"/>
              <a:t>특정 기능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추천 클릭</a:t>
            </a:r>
            <a:r>
              <a:rPr lang="en-US" altLang="ko-KR" dirty="0"/>
              <a:t>)</a:t>
            </a:r>
            <a:r>
              <a:rPr lang="ko-KR" altLang="en-US" dirty="0"/>
              <a:t>을 사용한 유저와 안 한 유저의 </a:t>
            </a:r>
            <a:r>
              <a:rPr lang="ko-KR" altLang="en-US" dirty="0" err="1"/>
              <a:t>잔존율</a:t>
            </a:r>
            <a:r>
              <a:rPr lang="ko-KR" altLang="en-US" dirty="0"/>
              <a:t> 차이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프로젝트 적용</a:t>
            </a:r>
            <a:r>
              <a:rPr lang="en-US" altLang="ko-KR" dirty="0"/>
              <a:t>: '</a:t>
            </a:r>
            <a:r>
              <a:rPr lang="ko-KR" altLang="en-US" dirty="0"/>
              <a:t>내 추천 모델을 이용한 유저의 </a:t>
            </a:r>
            <a:r>
              <a:rPr lang="ko-KR" altLang="en-US" dirty="0" err="1"/>
              <a:t>리텐션이</a:t>
            </a:r>
            <a:r>
              <a:rPr lang="ko-KR" altLang="en-US" dirty="0"/>
              <a:t> 더 높은가</a:t>
            </a:r>
            <a:r>
              <a:rPr lang="en-US" altLang="ko-KR" dirty="0"/>
              <a:t>?'</a:t>
            </a:r>
            <a:r>
              <a:rPr lang="ko-KR" altLang="en-US" dirty="0"/>
              <a:t>를 증명할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코호트 분석 </a:t>
            </a:r>
            <a:r>
              <a:rPr lang="en-US" altLang="ko-KR" sz="2300" dirty="0"/>
              <a:t>(Cohort Analysis)</a:t>
            </a:r>
          </a:p>
        </p:txBody>
      </p:sp>
    </p:spTree>
    <p:extLst>
      <p:ext uri="{BB962C8B-B14F-4D97-AF65-F5344CB8AC3E}">
        <p14:creationId xmlns:p14="http://schemas.microsoft.com/office/powerpoint/2010/main" val="22627823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한 명의 고객이 우리 서비스와 관계를 맺는 동안 </a:t>
            </a:r>
            <a:r>
              <a:rPr lang="ko-KR" altLang="en-US" dirty="0" err="1"/>
              <a:t>가져다주는</a:t>
            </a:r>
            <a:r>
              <a:rPr lang="ko-KR" altLang="en-US" dirty="0"/>
              <a:t> 총 이익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공식</a:t>
            </a:r>
            <a:r>
              <a:rPr lang="en-US" altLang="ko-KR" dirty="0"/>
              <a:t>: LTV = </a:t>
            </a:r>
            <a:r>
              <a:rPr lang="ko-KR" altLang="en-US" dirty="0"/>
              <a:t>평균 구매 단가 </a:t>
            </a:r>
            <a:r>
              <a:rPr lang="en-US" altLang="ko-KR" dirty="0"/>
              <a:t>× </a:t>
            </a:r>
            <a:r>
              <a:rPr lang="ko-KR" altLang="en-US" dirty="0"/>
              <a:t>구매 빈도 </a:t>
            </a:r>
            <a:r>
              <a:rPr lang="en-US" altLang="ko-KR" dirty="0"/>
              <a:t>× </a:t>
            </a:r>
            <a:r>
              <a:rPr lang="ko-KR" altLang="en-US" dirty="0"/>
              <a:t>고객 유지 기간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핵심 목표</a:t>
            </a:r>
            <a:r>
              <a:rPr lang="en-US" altLang="ko-KR" dirty="0"/>
              <a:t>: </a:t>
            </a:r>
            <a:r>
              <a:rPr lang="ko-KR" altLang="en-US" dirty="0"/>
              <a:t>정확도</a:t>
            </a:r>
            <a:r>
              <a:rPr lang="en-US" altLang="ko-KR" dirty="0"/>
              <a:t>(Accuracy)</a:t>
            </a:r>
            <a:r>
              <a:rPr lang="ko-KR" altLang="en-US" dirty="0"/>
              <a:t>가 아닌 </a:t>
            </a:r>
            <a:r>
              <a:rPr lang="en-US" altLang="ko-KR" dirty="0"/>
              <a:t>'</a:t>
            </a:r>
            <a:r>
              <a:rPr lang="ko-KR" altLang="en-US" dirty="0" err="1"/>
              <a:t>고객당</a:t>
            </a:r>
            <a:r>
              <a:rPr lang="ko-KR" altLang="en-US" dirty="0"/>
              <a:t> 가치</a:t>
            </a:r>
            <a:r>
              <a:rPr lang="en-US" altLang="ko-KR" dirty="0"/>
              <a:t>'</a:t>
            </a:r>
            <a:r>
              <a:rPr lang="ko-KR" altLang="en-US" dirty="0"/>
              <a:t>를 높이는 방향으로 모델을 튜닝하라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LTV (Lifetime Value): </a:t>
            </a:r>
            <a:r>
              <a:rPr lang="ko-KR" altLang="en-US" sz="2300" dirty="0"/>
              <a:t>고객 생애 가치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9224963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CAC (Customer Acquisition Cost): </a:t>
            </a:r>
            <a:r>
              <a:rPr lang="ko-KR" altLang="en-US" dirty="0"/>
              <a:t>고객 </a:t>
            </a:r>
            <a:r>
              <a:rPr lang="en-US" altLang="ko-KR" dirty="0"/>
              <a:t>1</a:t>
            </a:r>
            <a:r>
              <a:rPr lang="ko-KR" altLang="en-US" dirty="0"/>
              <a:t>명 획득 비용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비즈니스 생존 공식</a:t>
            </a:r>
            <a:r>
              <a:rPr lang="en-US" altLang="ko-KR" dirty="0"/>
              <a:t>: LTV</a:t>
            </a:r>
            <a:r>
              <a:rPr lang="ko-KR" altLang="en-US" dirty="0"/>
              <a:t>가 </a:t>
            </a:r>
            <a:r>
              <a:rPr lang="en-US" altLang="ko-KR" dirty="0"/>
              <a:t>CAC</a:t>
            </a:r>
            <a:r>
              <a:rPr lang="ko-KR" altLang="en-US" dirty="0"/>
              <a:t>보다 최소 </a:t>
            </a:r>
            <a:r>
              <a:rPr lang="en-US" altLang="ko-KR" dirty="0"/>
              <a:t>3</a:t>
            </a:r>
            <a:r>
              <a:rPr lang="ko-KR" altLang="en-US" dirty="0"/>
              <a:t>배 이상 높아야 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분석가의 역할</a:t>
            </a:r>
            <a:r>
              <a:rPr lang="en-US" altLang="ko-KR" dirty="0"/>
              <a:t>: </a:t>
            </a:r>
            <a:r>
              <a:rPr lang="ko-KR" altLang="en-US" dirty="0"/>
              <a:t>모델을 통해 </a:t>
            </a:r>
            <a:r>
              <a:rPr lang="en-US" altLang="ko-KR" dirty="0"/>
              <a:t>CAC</a:t>
            </a:r>
            <a:r>
              <a:rPr lang="ko-KR" altLang="en-US" dirty="0"/>
              <a:t>를 낮추거나</a:t>
            </a:r>
            <a:r>
              <a:rPr lang="en-US" altLang="ko-KR" dirty="0"/>
              <a:t>, </a:t>
            </a:r>
            <a:r>
              <a:rPr lang="ko-KR" altLang="en-US" dirty="0"/>
              <a:t>개인화 제안을 통해 </a:t>
            </a:r>
            <a:r>
              <a:rPr lang="en-US" altLang="ko-KR" dirty="0"/>
              <a:t>LTV</a:t>
            </a:r>
            <a:r>
              <a:rPr lang="ko-KR" altLang="en-US" dirty="0"/>
              <a:t>를 높이는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Unit Economics: LTV &gt; CAC</a:t>
            </a:r>
          </a:p>
        </p:txBody>
      </p:sp>
    </p:spTree>
    <p:extLst>
      <p:ext uri="{BB962C8B-B14F-4D97-AF65-F5344CB8AC3E}">
        <p14:creationId xmlns:p14="http://schemas.microsoft.com/office/powerpoint/2010/main" val="3126226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퍼널</a:t>
            </a:r>
            <a:r>
              <a:rPr lang="en-US" altLang="ko-KR" dirty="0"/>
              <a:t>(Funnel)</a:t>
            </a:r>
            <a:r>
              <a:rPr lang="ko-KR" altLang="en-US" dirty="0"/>
              <a:t>은 끝이 있지만</a:t>
            </a:r>
            <a:r>
              <a:rPr lang="en-US" altLang="ko-KR" dirty="0"/>
              <a:t>, </a:t>
            </a:r>
            <a:r>
              <a:rPr lang="ko-KR" altLang="en-US" dirty="0"/>
              <a:t>루프</a:t>
            </a:r>
            <a:r>
              <a:rPr lang="en-US" altLang="ko-KR" dirty="0"/>
              <a:t>(Loop)</a:t>
            </a:r>
            <a:r>
              <a:rPr lang="ko-KR" altLang="en-US" dirty="0"/>
              <a:t>는 결과가 다시 원동력이 됨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사용자의 자발적 공유나 추천이 새로운 유입을 만드는 구조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게이미피케이션</a:t>
            </a:r>
            <a:r>
              <a:rPr lang="ko-KR" altLang="en-US" dirty="0"/>
              <a:t> 요소를 통해 유저가 서비스를 홍보하게 만드는 </a:t>
            </a:r>
            <a:r>
              <a:rPr lang="ko-KR" altLang="en-US" dirty="0" err="1"/>
              <a:t>플라이휠</a:t>
            </a:r>
            <a:r>
              <a:rPr lang="en-US" altLang="ko-KR" dirty="0"/>
              <a:t>(Flywheel) </a:t>
            </a:r>
            <a:r>
              <a:rPr lang="ko-KR" altLang="en-US" dirty="0"/>
              <a:t>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Referral &amp; Viral Loop: </a:t>
            </a:r>
            <a:r>
              <a:rPr lang="ko-KR" altLang="en-US" sz="2300" dirty="0"/>
              <a:t>선형 </a:t>
            </a:r>
            <a:r>
              <a:rPr lang="ko-KR" altLang="en-US" sz="2300" dirty="0" err="1"/>
              <a:t>퍼널을</a:t>
            </a:r>
            <a:r>
              <a:rPr lang="ko-KR" altLang="en-US" sz="2300" dirty="0"/>
              <a:t> 넘어 성장 루프로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398696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공식</a:t>
            </a:r>
            <a:r>
              <a:rPr lang="en-US" altLang="ko-KR" dirty="0"/>
              <a:t>: K = (</a:t>
            </a:r>
            <a:r>
              <a:rPr lang="ko-KR" altLang="en-US" dirty="0"/>
              <a:t>유저당 공유 횟수</a:t>
            </a:r>
            <a:r>
              <a:rPr lang="en-US" altLang="ko-KR" dirty="0"/>
              <a:t>) × (</a:t>
            </a:r>
            <a:r>
              <a:rPr lang="ko-KR" altLang="en-US" dirty="0"/>
              <a:t>공유를 통한 </a:t>
            </a:r>
            <a:r>
              <a:rPr lang="ko-KR" altLang="en-US" dirty="0" err="1"/>
              <a:t>전환율</a:t>
            </a:r>
            <a:r>
              <a:rPr lang="en-US" altLang="ko-KR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K &gt; 1: </a:t>
            </a:r>
            <a:r>
              <a:rPr lang="ko-KR" altLang="en-US" dirty="0"/>
              <a:t>광고비 없이 스스로 성장하는 서비스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프로젝트 적용</a:t>
            </a:r>
            <a:r>
              <a:rPr lang="en-US" altLang="ko-KR" dirty="0"/>
              <a:t>: SNS </a:t>
            </a:r>
            <a:r>
              <a:rPr lang="ko-KR" altLang="en-US" dirty="0"/>
              <a:t>공유 리포트 등을 통해 실제 유입되는 유저의 비율 측정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바이럴 계수 </a:t>
            </a:r>
            <a:r>
              <a:rPr lang="en-US" altLang="ko-KR" sz="2300" dirty="0"/>
              <a:t>(K-factor): </a:t>
            </a:r>
            <a:r>
              <a:rPr lang="ko-KR" altLang="en-US" sz="2300" dirty="0"/>
              <a:t>성장의 가속도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1945496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90746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산업군</a:t>
            </a:r>
            <a:r>
              <a:rPr lang="ko-KR" altLang="en-US" sz="1200" b="1" spc="-150" dirty="0">
                <a:solidFill>
                  <a:schemeClr val="bg1"/>
                </a:solidFill>
              </a:rPr>
              <a:t> 특강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코드는 수단이고</a:t>
            </a:r>
            <a:r>
              <a:rPr lang="en-US" altLang="ko-KR" dirty="0"/>
              <a:t>, </a:t>
            </a:r>
            <a:r>
              <a:rPr lang="ko-KR" altLang="en-US" dirty="0"/>
              <a:t>비즈니스 가치가 목적이다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'</a:t>
            </a:r>
            <a:r>
              <a:rPr lang="ko-KR" altLang="en-US" dirty="0"/>
              <a:t>이 모델로 인해 회사의 이익이 얼마나 변했는가</a:t>
            </a:r>
            <a:r>
              <a:rPr lang="en-US" altLang="ko-KR" dirty="0"/>
              <a:t>?'</a:t>
            </a:r>
            <a:r>
              <a:rPr lang="ko-KR" altLang="en-US" dirty="0"/>
              <a:t>라는 질문에 답하라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데이터로 비즈니스의 미래를 </a:t>
            </a:r>
            <a:r>
              <a:rPr lang="ko-KR" altLang="en-US" dirty="0" err="1"/>
              <a:t>시뮬레이션하는</a:t>
            </a:r>
            <a:r>
              <a:rPr lang="ko-KR" altLang="en-US" dirty="0"/>
              <a:t> 분석가가 되십시오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마무리</a:t>
            </a:r>
            <a:r>
              <a:rPr lang="en-US" altLang="ko-KR" sz="2300" dirty="0"/>
              <a:t>: </a:t>
            </a:r>
            <a:r>
              <a:rPr lang="ko-KR" altLang="en-US" sz="2300" dirty="0"/>
              <a:t>기술자가 아닌 전략가가 되라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719112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18376</TotalTime>
  <Words>2874</Words>
  <Application>Microsoft Office PowerPoint</Application>
  <PresentationFormat>화면 슬라이드 쇼(4:3)</PresentationFormat>
  <Paragraphs>436</Paragraphs>
  <Slides>44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8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병선 문</cp:lastModifiedBy>
  <cp:revision>168</cp:revision>
  <dcterms:created xsi:type="dcterms:W3CDTF">2016-11-03T20:47:04Z</dcterms:created>
  <dcterms:modified xsi:type="dcterms:W3CDTF">2026-04-02T19:14:12Z</dcterms:modified>
</cp:coreProperties>
</file>